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/>
            <a:r>
              <a:rPr sz="3600" b="1">
                <a:solidFill>
                  <a:srgbClr val="CAC5B2"/>
                </a:solidFill>
              </a:rPr>
              <a:t>UMS: De la Incertidumbre a la Entrega Continua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>
                <a:solidFill>
                  <a:srgbClr val="FFFFFF"/>
                </a:solidFill>
              </a:defRPr>
            </a:pPr>
            <a:r>
              <a:t>Caso Práctico: Portal de Autoservicio Industrial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3657600"/>
            <a:ext cx="1828800" cy="1828800"/>
          </a:xfrm>
          <a:prstGeom prst="roundRect">
            <a:avLst/>
          </a:prstGeom>
          <a:solidFill>
            <a:srgbClr val="121212"/>
          </a:solidFill>
          <a:ln w="25400"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EVOLITH</a:t>
            </a:r>
          </a:p>
          <a:p>
            <a:pPr algn="ctr"/>
            <a:r>
              <a:rPr sz="1400" b="1">
                <a:solidFill>
                  <a:srgbClr val="121212"/>
                </a:solidFill>
              </a:rPr>
              <a:t>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914400" y="3657600"/>
            <a:ext cx="6400800" cy="182880"/>
          </a:xfrm>
          <a:prstGeom prst="rightArrow">
            <a:avLst/>
          </a:prstGeom>
          <a:solidFill>
            <a:srgbClr val="CAC5B2"/>
          </a:solidFill>
          <a:ln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0" y="3200400"/>
            <a:ext cx="1371600" cy="914400"/>
          </a:xfrm>
          <a:prstGeom prst="roundRect">
            <a:avLst/>
          </a:prstGeom>
          <a:noFill/>
          <a:ln w="25400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960000"/>
                </a:solidFill>
              </a:rPr>
              <a:t>Sobrecostes</a:t>
            </a:r>
          </a:p>
          <a:p>
            <a:pPr algn="ctr"/>
            <a:r>
              <a:rPr sz="1400" b="1">
                <a:solidFill>
                  <a:srgbClr val="960000"/>
                </a:solidFill>
              </a:rPr>
              <a:t>Retrasos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1828800" cy="914400"/>
          </a:xfrm>
          <a:prstGeom prst="roundRect">
            <a:avLst/>
          </a:prstGeom>
          <a:noFill/>
          <a:ln w="254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A0A0A0"/>
                </a:solidFill>
              </a:rPr>
              <a:t>Silos Org.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4572000"/>
            <a:ext cx="1828800" cy="914400"/>
          </a:xfrm>
          <a:prstGeom prst="roundRect">
            <a:avLst/>
          </a:prstGeom>
          <a:noFill/>
          <a:ln w="254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A0A0A0"/>
                </a:solidFill>
              </a:rPr>
              <a:t>Deuda Técnica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828800"/>
            <a:ext cx="1828800" cy="914400"/>
          </a:xfrm>
          <a:prstGeom prst="roundRect">
            <a:avLst/>
          </a:prstGeom>
          <a:noFill/>
          <a:ln w="254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A0A0A0"/>
                </a:solidFill>
              </a:rPr>
              <a:t>Pruebas Tardías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743200"/>
            <a:ext cx="1828800" cy="3657600"/>
          </a:xfrm>
          <a:prstGeom prst="roundRect">
            <a:avLst/>
          </a:prstGeom>
          <a:noFill/>
          <a:ln w="254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A0A0A0"/>
                </a:solidFill>
              </a:rPr>
              <a:t>TTM Anterior</a:t>
            </a:r>
          </a:p>
          <a:p>
            <a:pPr algn="ctr"/>
            <a:r>
              <a:rPr sz="1400" b="1">
                <a:solidFill>
                  <a:srgbClr val="A0A0A0"/>
                </a:solidFill>
              </a:rPr>
              <a:t>(18 meses)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0" y="4572000"/>
            <a:ext cx="1828800" cy="182880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TTM Evolith</a:t>
            </a:r>
          </a:p>
          <a:p>
            <a:pPr algn="ctr"/>
            <a:r>
              <a:rPr sz="1400" b="1">
                <a:solidFill>
                  <a:srgbClr val="121212"/>
                </a:solidFill>
              </a:rPr>
              <a:t>(8 meses)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828800"/>
            <a:ext cx="2743200" cy="91440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100% Trazabilidad Lograda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