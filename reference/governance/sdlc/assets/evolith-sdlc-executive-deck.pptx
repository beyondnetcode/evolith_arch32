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Evolith ARCH32 + SDLC Corporativo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Gobernanza, Estándares y Entrega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1. ¿Qué es Evolith?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2000"/>
            </a:pPr>
            <a:r>
              <a:t>Framework corporativo y arquitectura base de referencia.</a:t>
            </a:r>
          </a:p>
          <a:p>
            <a:pPr>
              <a:spcBef>
                <a:spcPts val="1000"/>
              </a:spcBef>
              <a:defRPr sz="2000"/>
            </a:pPr>
            <a:r>
              <a:t>Provee patrones, estándares y gobierno unificado.</a:t>
            </a:r>
          </a:p>
          <a:p>
            <a:pPr>
              <a:spcBef>
                <a:spcPts val="1000"/>
              </a:spcBef>
              <a:defRPr sz="2000"/>
            </a:pPr>
            <a:r>
              <a:t>Asegura consistencia en todo el portafolio de aplicaciones.</a:t>
            </a:r>
          </a:p>
          <a:p>
            <a:pPr>
              <a:spcBef>
                <a:spcPts val="1000"/>
              </a:spcBef>
              <a:defRPr sz="2000"/>
            </a:pPr>
            <a:r>
              <a:t>Facilita la evolución desde monolitos simples a microservicios distribuidos.</a:t>
            </a:r>
          </a:p>
        </p:txBody>
      </p:sp>
      <p:pic>
        <p:nvPicPr>
          <p:cNvPr id="4" name="Picture 3" descr="visual_1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-695946"/>
            <a:ext cx="4114800" cy="91642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2. El Problema que Resuelve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2000"/>
            </a:pPr>
            <a:r>
              <a:t>Evita la fragmentación tecnológica entre equipos.</a:t>
            </a:r>
          </a:p>
          <a:p>
            <a:pPr>
              <a:spcBef>
                <a:spcPts val="1000"/>
              </a:spcBef>
              <a:defRPr sz="2000"/>
            </a:pPr>
            <a:r>
              <a:t>Reduce el riesgo arquitectónico (decisiones tempranas vs tardías).</a:t>
            </a:r>
          </a:p>
          <a:p>
            <a:pPr>
              <a:spcBef>
                <a:spcPts val="1000"/>
              </a:spcBef>
              <a:defRPr sz="2000"/>
            </a:pPr>
            <a:r>
              <a:t>Alinea el trabajo de ingeniería con el gobierno SDLC.</a:t>
            </a:r>
          </a:p>
          <a:p>
            <a:pPr>
              <a:spcBef>
                <a:spcPts val="1000"/>
              </a:spcBef>
              <a:defRPr sz="2000"/>
            </a:pPr>
            <a:r>
              <a:t>Elimina las 'zonas grises' de responsabilidad y calidad.</a:t>
            </a:r>
          </a:p>
        </p:txBody>
      </p:sp>
      <p:pic>
        <p:nvPicPr>
          <p:cNvPr id="4" name="Picture 3" descr="visual_1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98929"/>
            <a:ext cx="4114800" cy="1574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3. Evolith y el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2000"/>
            </a:pPr>
            <a:r>
              <a:t>Evolith provee la estructura; el SDLC provee el ciclo de vida.</a:t>
            </a:r>
          </a:p>
          <a:p>
            <a:pPr>
              <a:spcBef>
                <a:spcPts val="1000"/>
              </a:spcBef>
              <a:defRPr sz="2000"/>
            </a:pPr>
            <a:r>
              <a:t>Fase 1: Concepción (PRD, Viabilidad).</a:t>
            </a:r>
          </a:p>
          <a:p>
            <a:pPr>
              <a:spcBef>
                <a:spcPts val="1000"/>
              </a:spcBef>
              <a:defRPr sz="2000"/>
            </a:pPr>
            <a:r>
              <a:t>Fase 2: Diseño (ADR, Historias Funcionales).</a:t>
            </a:r>
          </a:p>
          <a:p>
            <a:pPr>
              <a:spcBef>
                <a:spcPts val="1000"/>
              </a:spcBef>
              <a:defRPr sz="2000"/>
            </a:pPr>
            <a:r>
              <a:t>Fase 3: Construcción (Historias Técnicas).</a:t>
            </a:r>
          </a:p>
          <a:p>
            <a:pPr>
              <a:spcBef>
                <a:spcPts val="1000"/>
              </a:spcBef>
              <a:defRPr sz="2000"/>
            </a:pPr>
            <a:r>
              <a:t>Fase 4: Validación (Test Summary Report).</a:t>
            </a:r>
          </a:p>
          <a:p>
            <a:pPr>
              <a:spcBef>
                <a:spcPts val="1000"/>
              </a:spcBef>
              <a:defRPr sz="2000"/>
            </a:pPr>
            <a:r>
              <a:t>Fase 5: Entrega (Release Notes).</a:t>
            </a:r>
          </a:p>
        </p:txBody>
      </p:sp>
      <p:pic>
        <p:nvPicPr>
          <p:cNvPr id="4" name="Picture 3" descr="visual_1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28912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4. Artefactos por Fase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Concepción: PRD (Product Requirements Document).</a:t>
            </a:r>
          </a:p>
          <a:p>
            <a:pPr>
              <a:spcBef>
                <a:spcPts val="1000"/>
              </a:spcBef>
              <a:defRPr sz="2000"/>
            </a:pPr>
            <a:r>
              <a:t>Diseño: ADR (Registro de Decisión Arquitectónica), Historias Funcionales.</a:t>
            </a:r>
          </a:p>
          <a:p>
            <a:pPr>
              <a:spcBef>
                <a:spcPts val="1000"/>
              </a:spcBef>
              <a:defRPr sz="2000"/>
            </a:pPr>
            <a:r>
              <a:t>Construcción: Historias Técnicas, Pruebas Unitarias/Integración.</a:t>
            </a:r>
          </a:p>
          <a:p>
            <a:pPr>
              <a:spcBef>
                <a:spcPts val="1000"/>
              </a:spcBef>
              <a:defRPr sz="2000"/>
            </a:pPr>
            <a:r>
              <a:t>Validación: Test Summary Report, Evidencia de Quality Gates.</a:t>
            </a:r>
          </a:p>
          <a:p>
            <a:pPr>
              <a:spcBef>
                <a:spcPts val="1000"/>
              </a:spcBef>
              <a:defRPr sz="2000"/>
            </a:pPr>
            <a:r>
              <a:t>Entrega: Release Notes, Checklist de Observabilidad.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5. Roles y Gobernanza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 Owner: Define el QUÉ (PRD, Historias Funcionales).</a:t>
            </a:r>
          </a:p>
          <a:p>
            <a:pPr>
              <a:spcBef>
                <a:spcPts val="1000"/>
              </a:spcBef>
              <a:defRPr sz="2000"/>
            </a:pPr>
            <a:r>
              <a:t>Arquitecto: Define el CÓMO a alto nivel (ADR, Patrones).</a:t>
            </a:r>
          </a:p>
          <a:p>
            <a:pPr>
              <a:spcBef>
                <a:spcPts val="1000"/>
              </a:spcBef>
              <a:defRPr sz="2000"/>
            </a:pPr>
            <a:r>
              <a:t>Tech Lead: Guía el CÓMO técnico y asegura el Definition of Done.</a:t>
            </a:r>
          </a:p>
          <a:p>
            <a:pPr>
              <a:spcBef>
                <a:spcPts val="1000"/>
              </a:spcBef>
              <a:defRPr sz="2000"/>
            </a:pPr>
            <a:r>
              <a:t>QA/SDET: Valida el umbral de calidad (Quality Gates).</a:t>
            </a:r>
          </a:p>
          <a:p>
            <a:pPr>
              <a:spcBef>
                <a:spcPts val="1000"/>
              </a:spcBef>
              <a:defRPr sz="2000"/>
            </a:pPr>
            <a:r>
              <a:t>DevOps/SRE: Ejecuta el pase a producción y asegura operabilidad.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6. Calidad, Trazabilidad y Decisiones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Traceability Model: Del PRD a Producción sin saltos.</a:t>
            </a:r>
          </a:p>
          <a:p>
            <a:pPr>
              <a:spcBef>
                <a:spcPts val="1000"/>
              </a:spcBef>
              <a:defRPr sz="2000"/>
            </a:pPr>
            <a:r>
              <a:t>Quality Gates Objetivos: Cobertura, Complejidad, Seguridad, Deuda Técnica.</a:t>
            </a:r>
          </a:p>
          <a:p>
            <a:pPr>
              <a:spcBef>
                <a:spcPts val="1000"/>
              </a:spcBef>
              <a:defRPr sz="2000"/>
            </a:pPr>
            <a:r>
              <a:t>Decision Records: Todo cambio estructural se documenta en un ADR.</a:t>
            </a:r>
          </a:p>
          <a:p>
            <a:pPr>
              <a:spcBef>
                <a:spcPts val="1000"/>
              </a:spcBef>
              <a:defRPr sz="2000"/>
            </a:pPr>
            <a:r>
              <a:t>La evidencia es obligatoria; los acuerdos verbales no bastan.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A5F"/>
                </a:solidFill>
              </a:defRPr>
            </a:pPr>
            <a:r>
              <a:t>7. Valor Aportado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2000"/>
            </a:pPr>
            <a:r>
              <a:t>Negocio: Previsibilidad y control de la inversión.</a:t>
            </a:r>
          </a:p>
          <a:p>
            <a:pPr>
              <a:spcBef>
                <a:spcPts val="1000"/>
              </a:spcBef>
              <a:defRPr sz="2000"/>
            </a:pPr>
            <a:r>
              <a:t>Tecnología: Base de código sostenible y escalable.</a:t>
            </a:r>
          </a:p>
          <a:p>
            <a:pPr>
              <a:spcBef>
                <a:spcPts val="1000"/>
              </a:spcBef>
              <a:defRPr sz="2000"/>
            </a:pPr>
            <a:r>
              <a:t>Arquitectura: Decisiones documentadas y reutilizables.</a:t>
            </a:r>
          </a:p>
          <a:p>
            <a:pPr>
              <a:spcBef>
                <a:spcPts val="1000"/>
              </a:spcBef>
              <a:defRPr sz="2000"/>
            </a:pPr>
            <a:r>
              <a:t>QA/DevOps: Criterios claros de entrada/salida y despliegues seguros.</a:t>
            </a:r>
          </a:p>
          <a:p>
            <a:pPr>
              <a:spcBef>
                <a:spcPts val="1000"/>
              </a:spcBef>
              <a:defRPr sz="2000"/>
            </a:pPr>
            <a:r>
              <a:t>Gestión: Scorecard unificado y visibilidad ejecutiva.</a:t>
            </a:r>
          </a:p>
        </p:txBody>
      </p:sp>
      <p:pic>
        <p:nvPicPr>
          <p:cNvPr id="4" name="Picture 3" descr="visual_1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81118"/>
            <a:ext cx="4114800" cy="201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