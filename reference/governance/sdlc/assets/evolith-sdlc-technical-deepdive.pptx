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57200"/>
            <a:ext cx="8229600" cy="914400"/>
          </a:xfrm>
        </p:spPr>
        <p:txBody>
          <a:bodyPr/>
          <a:lstStyle/>
          <a:p>
            <a:pPr algn="l"/>
            <a:r>
              <a:rPr sz="3600" b="1">
                <a:solidFill>
                  <a:srgbClr val="CAC5B2"/>
                </a:solidFill>
              </a:rPr>
              <a:t>Evolith SDLC: Deep-Dive Técnico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400">
                <a:solidFill>
                  <a:srgbClr val="FFFFFF"/>
                </a:solidFill>
              </a:defRPr>
            </a:pPr>
            <a:r>
              <a:t>Diagramas de Arquitectura y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3657600"/>
            <a:ext cx="1828800" cy="1828800"/>
          </a:xfrm>
          <a:prstGeom prst="roundRect">
            <a:avLst/>
          </a:prstGeom>
          <a:solidFill>
            <a:srgbClr val="121212"/>
          </a:solidFill>
          <a:ln w="25400">
            <a:solidFill>
              <a:srgbClr val="CAC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21212"/>
                </a:solidFill>
              </a:rPr>
              <a:t>EVOLITH</a:t>
            </a:r>
          </a:p>
          <a:p>
            <a:pPr algn="ctr"/>
            <a:r>
              <a:rPr sz="1400" b="1">
                <a:solidFill>
                  <a:srgbClr val="121212"/>
                </a:solidFill>
              </a:rPr>
              <a:t>CORE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0"/>
            <a:ext cx="1371600" cy="914400"/>
          </a:xfrm>
          <a:prstGeom prst="roundRect">
            <a:avLst/>
          </a:prstGeom>
          <a:noFill/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Git Push</a:t>
            </a:r>
          </a:p>
        </p:txBody>
      </p:sp>
      <p:sp>
        <p:nvSpPr>
          <p:cNvPr id="3" name="Right Arrow 2"/>
          <p:cNvSpPr/>
          <p:nvPr/>
        </p:nvSpPr>
        <p:spPr>
          <a:xfrm>
            <a:off x="1920240" y="3017520"/>
            <a:ext cx="365760" cy="365760"/>
          </a:xfrm>
          <a:prstGeom prst="rightArrow">
            <a:avLst/>
          </a:prstGeom>
          <a:solidFill>
            <a:srgbClr val="CAC5B2"/>
          </a:solidFill>
          <a:ln>
            <a:solidFill>
              <a:srgbClr val="CAC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377440" y="2743200"/>
            <a:ext cx="1371600" cy="914400"/>
          </a:xfrm>
          <a:prstGeom prst="roundRect">
            <a:avLst/>
          </a:prstGeom>
          <a:noFill/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Build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840480" y="3017520"/>
            <a:ext cx="365760" cy="365760"/>
          </a:xfrm>
          <a:prstGeom prst="rightArrow">
            <a:avLst/>
          </a:prstGeom>
          <a:solidFill>
            <a:srgbClr val="CAC5B2"/>
          </a:solidFill>
          <a:ln>
            <a:solidFill>
              <a:srgbClr val="CAC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97680" y="2286000"/>
            <a:ext cx="1371600" cy="1828800"/>
          </a:xfrm>
          <a:prstGeom prst="roundRect">
            <a:avLst/>
          </a:prstGeom>
          <a:solidFill>
            <a:srgbClr val="CAC5B2"/>
          </a:solidFill>
          <a:ln w="25400">
            <a:solidFill>
              <a:srgbClr val="12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21212"/>
                </a:solidFill>
              </a:rPr>
              <a:t>SAST Scan</a:t>
            </a:r>
          </a:p>
          <a:p>
            <a:pPr algn="ctr"/>
            <a:r>
              <a:rPr sz="1400" b="1">
                <a:solidFill>
                  <a:srgbClr val="121212"/>
                </a:solidFill>
              </a:rPr>
              <a:t>Quality Gate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760720" y="3017520"/>
            <a:ext cx="365760" cy="365760"/>
          </a:xfrm>
          <a:prstGeom prst="rightArrow">
            <a:avLst/>
          </a:prstGeom>
          <a:solidFill>
            <a:srgbClr val="CAC5B2"/>
          </a:solidFill>
          <a:ln>
            <a:solidFill>
              <a:srgbClr val="CAC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2743200"/>
            <a:ext cx="1371600" cy="914400"/>
          </a:xfrm>
          <a:prstGeom prst="roundRect">
            <a:avLst/>
          </a:prstGeom>
          <a:noFill/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Deploy Staging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3200400"/>
            <a:ext cx="1828800" cy="914400"/>
          </a:xfrm>
          <a:prstGeom prst="roundRect">
            <a:avLst/>
          </a:prstGeom>
          <a:noFill/>
          <a:ln w="25400">
            <a:solidFill>
              <a:srgbClr val="CAC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CAC5B2"/>
                </a:solidFill>
              </a:rPr>
              <a:t>Load Balancer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828800"/>
            <a:ext cx="2743200" cy="1371600"/>
          </a:xfrm>
          <a:prstGeom prst="roundRect">
            <a:avLst/>
          </a:prstGeom>
          <a:noFill/>
          <a:ln w="254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A0A0A0"/>
                </a:solidFill>
              </a:rPr>
              <a:t>Entorno BLUE (V1)</a:t>
            </a:r>
          </a:p>
          <a:p>
            <a:pPr algn="ctr"/>
            <a:r>
              <a:rPr sz="1400" b="1">
                <a:solidFill>
                  <a:srgbClr val="A0A0A0"/>
                </a:solidFill>
              </a:rPr>
              <a:t>(Drenando)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4114800"/>
            <a:ext cx="2743200" cy="1371600"/>
          </a:xfrm>
          <a:prstGeom prst="roundRect">
            <a:avLst/>
          </a:prstGeom>
          <a:solidFill>
            <a:srgbClr val="CAC5B2"/>
          </a:solidFill>
          <a:ln w="25400">
            <a:solidFill>
              <a:srgbClr val="12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21212"/>
                </a:solidFill>
              </a:rPr>
              <a:t>Entorno GREEN (V2)</a:t>
            </a:r>
          </a:p>
          <a:p>
            <a:pPr algn="ctr"/>
            <a:r>
              <a:rPr sz="1400" b="1">
                <a:solidFill>
                  <a:srgbClr val="121212"/>
                </a:solidFill>
              </a:rPr>
              <a:t>(Tráfico Activo)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