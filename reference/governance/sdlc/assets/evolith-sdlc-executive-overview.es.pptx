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EJECUTIVA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es Evolith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4663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Evolith es un marco corporativo para gobernar la entrega de software: conecta arquitectura, SDLC, artefactos, responsabilidades y evidencia en un sistema verificable.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0" y="141732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47104" y="1545336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Arquitectura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95360" y="141732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41664" y="1545336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SDLC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274320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47104" y="2871216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Gobernanza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95360" y="274320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F3E8FF"/>
          </a:solidFill>
          <a:ln w="12700">
            <a:solidFill>
              <a:srgbClr val="F3E8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41664" y="2871216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Evidencia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0" cy="4114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0" y="1828800"/>
            <a:ext cx="3200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29600" y="3154680"/>
            <a:ext cx="3200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509760" y="2286000"/>
            <a:ext cx="0" cy="41148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086600" y="4160520"/>
            <a:ext cx="2651760" cy="640080"/>
          </a:xfrm>
          <a:prstGeom prst="roundRect">
            <a:avLst>
              <a:gd name="adj" fmla="val 8571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32904" y="428853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Control de delivery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Evolith SDLC — Vista corporativa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9284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DOLOR ORGANIZACIONAL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problema que resuelve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un marco común, los equipos avanzan con criterios distintos: el riesgo se detecta tarde, la documentación se dispersa y los gates dependen de acuerdos verbales.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2871216"/>
            <a:ext cx="1399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Decisiones tardías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23160" y="3127248"/>
            <a:ext cx="45720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71800" y="27432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18104" y="2871216"/>
            <a:ext cx="1399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Gates subjetivos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3127248"/>
            <a:ext cx="45720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57800" y="27432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04104" y="2871216"/>
            <a:ext cx="1399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Evidencia dispersa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95160" y="3127248"/>
            <a:ext cx="45720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43800" y="27432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90104" y="2871216"/>
            <a:ext cx="1399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QA reactivo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81160" y="3127248"/>
            <a:ext cx="45720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829800" y="27432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EE2E2"/>
          </a:solidFill>
          <a:ln w="12700">
            <a:solidFill>
              <a:srgbClr val="FEE2E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76104" y="2871216"/>
            <a:ext cx="13990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Release riesgoso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4800600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Evolith transforma ese flujo en una cadena trazable, con responsables claros, artefactos mínimos y criterios objetivos de avance.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4360" y="6446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Evolith SDLC — Vista corporativa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9284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FASES Y GATES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Propuesta SDLC Evolith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1168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2139696"/>
            <a:ext cx="1307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Concepción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154680"/>
            <a:ext cx="1325880" cy="566928"/>
          </a:xfrm>
          <a:prstGeom prst="roundRect">
            <a:avLst>
              <a:gd name="adj" fmla="val 9677"/>
            </a:avLst>
          </a:prstGeom>
          <a:solidFill>
            <a:srgbClr val="FFFBEB"/>
          </a:solidFill>
          <a:ln w="12700">
            <a:solidFill>
              <a:srgbClr val="FFFB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3282696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Aprobación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de negocio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2359152"/>
            <a:ext cx="4572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6080" y="201168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72384" y="2139696"/>
            <a:ext cx="1307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Diseño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63240" y="3154680"/>
            <a:ext cx="1325880" cy="566928"/>
          </a:xfrm>
          <a:prstGeom prst="roundRect">
            <a:avLst>
              <a:gd name="adj" fmla="val 9677"/>
            </a:avLst>
          </a:prstGeom>
          <a:solidFill>
            <a:srgbClr val="FFFBEB"/>
          </a:solidFill>
          <a:ln w="12700">
            <a:solidFill>
              <a:srgbClr val="FFFB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9544" y="3282696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Baseline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de diseño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2359152"/>
            <a:ext cx="4572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66360" y="201168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12664" y="2139696"/>
            <a:ext cx="1307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Construcción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0" y="3154680"/>
            <a:ext cx="1325880" cy="566928"/>
          </a:xfrm>
          <a:prstGeom prst="roundRect">
            <a:avLst>
              <a:gd name="adj" fmla="val 9677"/>
            </a:avLst>
          </a:prstGeom>
          <a:solidFill>
            <a:srgbClr val="FFFBEB"/>
          </a:solidFill>
          <a:ln w="12700">
            <a:solidFill>
              <a:srgbClr val="FFFBE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9824" y="3282696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Build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exitoso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2359152"/>
            <a:ext cx="4572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06640" y="201168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52944" y="2139696"/>
            <a:ext cx="1307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Validación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43800" y="3154680"/>
            <a:ext cx="1325880" cy="566928"/>
          </a:xfrm>
          <a:prstGeom prst="roundRect">
            <a:avLst>
              <a:gd name="adj" fmla="val 9677"/>
            </a:avLst>
          </a:prstGeom>
          <a:solidFill>
            <a:srgbClr val="FFFBEB"/>
          </a:solidFill>
          <a:ln w="12700">
            <a:solidFill>
              <a:srgbClr val="FFFBE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90104" y="3282696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RC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sellado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098280" y="2359152"/>
            <a:ext cx="4572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46920" y="201168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93224" y="2139696"/>
            <a:ext cx="1307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Entrega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784080" y="3154680"/>
            <a:ext cx="1325880" cy="566928"/>
          </a:xfrm>
          <a:prstGeom prst="roundRect">
            <a:avLst>
              <a:gd name="adj" fmla="val 9677"/>
            </a:avLst>
          </a:prstGeom>
          <a:solidFill>
            <a:srgbClr val="FFFBEB"/>
          </a:solidFill>
          <a:ln w="12700">
            <a:solidFill>
              <a:srgbClr val="FFFBE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30384" y="3282696"/>
            <a:ext cx="1033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Producción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activa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" y="48920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operativa: ninguna fase avanza sin evidencia versionada, accountable definido y criterio objetivo de aprobación.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94360" y="6446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Evolith SDLC — Vista corporativa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29284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CADENA MÍNIMA Y EXTENDIDA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Artefactos clave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160020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956816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PRD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2240280"/>
            <a:ext cx="3657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80360" y="1828800"/>
            <a:ext cx="160020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26664" y="1956816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Historia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Funcional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2240280"/>
            <a:ext cx="3657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0" y="1828800"/>
            <a:ext cx="160020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5504" y="1956816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Historia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Técnica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2240280"/>
            <a:ext cx="3657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78040" y="1828800"/>
            <a:ext cx="160020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24344" y="1956816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Test Summary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Report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69680" y="2240280"/>
            <a:ext cx="3657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26880" y="1828800"/>
            <a:ext cx="160020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73184" y="1956816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Release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Notes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ADR obligatorio cuando cambia arquitectura, tecnología, seguridad, multi-tenancy, persistencia, APIs u observabilidad.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97280" y="4846320"/>
            <a:ext cx="1920240" cy="347472"/>
          </a:xfrm>
          <a:prstGeom prst="roundRect">
            <a:avLst>
              <a:gd name="adj" fmla="val 26316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49423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Obligatorios para MVP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4846320"/>
            <a:ext cx="1920240" cy="347472"/>
          </a:xfrm>
          <a:prstGeom prst="roundRect">
            <a:avLst>
              <a:gd name="adj" fmla="val 26316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49423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Extendidos al escalar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046720" y="4846320"/>
            <a:ext cx="1920240" cy="347472"/>
          </a:xfrm>
          <a:prstGeom prst="roundRect">
            <a:avLst>
              <a:gd name="adj" fmla="val 26316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494233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Evidencia por gate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4360" y="6446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Evolith SDLC — Vista corporativa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9284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QUIÉN DECIDE Y QUIÉN EVIDENCIA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Gobernanza y RACI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636776"/>
            <a:ext cx="15361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50876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72384" y="1636776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74920" y="150876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21224" y="1636776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23760" y="150876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70064" y="1636776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372600" y="150876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18904" y="1636776"/>
            <a:ext cx="7132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057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Negocio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7180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6948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Arq/QA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41832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26700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71800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0640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Lead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69480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Seg/QA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18320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32826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71800" y="32826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Lead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32826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 Team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69480" y="32826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418320" y="32826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" y="3895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71800" y="38953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Lead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38953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Dev/QA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69480" y="38953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418320" y="38953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Sponsor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" y="4507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Producción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971800" y="4507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4507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69480" y="4507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Arq/Seg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418320" y="4507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Dirección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97280" y="54864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= accountable · R = responsible · C = consulted · I = informed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4360" y="6446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Evolith SDLC — Vista corporativa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29284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INTENCIÓN A EVIDENCIA OPERATIVA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Trazabilidad y calidad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1168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139696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Necesidad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2331720"/>
            <a:ext cx="3657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40280" y="201168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86584" y="2139696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PRD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2331720"/>
            <a:ext cx="3657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40480" y="201168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86784" y="2139696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Historia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2331720"/>
            <a:ext cx="3657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40680" y="201168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86984" y="2139696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ADR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29400" y="2331720"/>
            <a:ext cx="3657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040880" y="201168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87184" y="2139696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Tests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0" y="2331720"/>
            <a:ext cx="3657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41080" y="201168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87384" y="2139696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Release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829800" y="2331720"/>
            <a:ext cx="36576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241280" y="201168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87584" y="2139696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Operación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39319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deja de ser una opinión: se valida con evidencias, criterios de gate, pruebas y readiness operativo.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4360" y="6446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Evolith SDLC — Vista corporativa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9284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IMPLEMENTARLO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Valor ejecutivo y adopción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956816"/>
            <a:ext cx="1810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Riesgo controlado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8288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D1FAE5"/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12464" y="1956816"/>
            <a:ext cx="1810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Delivery predecible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5664" y="1956816"/>
            <a:ext cx="1810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Decisiones trazables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052560" y="18288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3E8FF"/>
          </a:solidFill>
          <a:ln w="12700">
            <a:solidFill>
              <a:srgbClr val="F3E8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98864" y="1956816"/>
            <a:ext cx="18105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Calidad verificable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9776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sugerido: piloto controlado → adopción por dominios → gates corporativos → scorecard permanente.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89120" y="5074920"/>
            <a:ext cx="3474720" cy="594360"/>
          </a:xfrm>
          <a:prstGeom prst="roundRect">
            <a:avLst>
              <a:gd name="adj" fmla="val 9231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5202936"/>
            <a:ext cx="31821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Evolith SDLC = delivery gobernado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6446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Evolith SDLC — Vista corporativa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92840" y="643737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BeyondNetCode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Qué es Evolith y su propuesta SDLC</dc:title>
  <dc:subject>Evolith SDLC</dc:subject>
  <dc:creator>BeyondNet</dc:creator>
  <cp:lastModifiedBy>BeyondNet</cp:lastModifiedBy>
  <cp:revision>1</cp:revision>
  <dcterms:created xsi:type="dcterms:W3CDTF">2026-06-02T17:34:40Z</dcterms:created>
  <dcterms:modified xsi:type="dcterms:W3CDTF">2026-06-02T17:34:40Z</dcterms:modified>
</cp:coreProperties>
</file>