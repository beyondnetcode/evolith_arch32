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Evolith • Product Vision &amp; SDLC Operating Model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265408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01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66928" y="475488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0891B2">
              <a:alpha val="90000"/>
            </a:srgbClr>
          </a:solidFill>
          <a:ln w="10160">
            <a:solidFill>
              <a:srgbClr val="0891B2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553212"/>
            <a:ext cx="1243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VISIÓN EJECUTIVA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Evolith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66928" y="1773936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2E8F0"/>
                </a:solidFill>
              </a:rPr>
              <a:t>Un sistema operativo para gobernar productos de software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85216" y="2414016"/>
            <a:ext cx="53949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CBD5E1"/>
                </a:solidFill>
              </a:rPr>
              <a:t>Convierte arquitectura, SDLC, calidad y operación en un modelo de control ejecutivo: cada fase avanza con evidencia, responsable y criterio objetivo.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7333488" y="1280160"/>
            <a:ext cx="3063240" cy="3063240"/>
          </a:xfrm>
          <a:prstGeom prst="roundRect">
            <a:avLst>
              <a:gd name="adj" fmla="val 5373"/>
            </a:avLst>
          </a:prstGeom>
          <a:solidFill>
            <a:srgbClr val="1521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28432" y="1883664"/>
            <a:ext cx="1691640" cy="1691640"/>
          </a:xfrm>
          <a:prstGeom prst="ellipse">
            <a:avLst/>
          </a:prstGeom>
          <a:solidFill>
            <a:srgbClr val="0B1220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888" y="2276856"/>
            <a:ext cx="12618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EVOLITH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720840" y="1170432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75704" y="1271016"/>
            <a:ext cx="10607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10040112" y="1124712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4976" y="1225296"/>
            <a:ext cx="10607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SDLC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0085832" y="4133088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0696" y="4233672"/>
            <a:ext cx="10607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739128" y="4096512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4197096"/>
            <a:ext cx="10607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03504" y="4233672"/>
            <a:ext cx="157276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762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" y="4379976"/>
            <a:ext cx="56692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362456" y="4434840"/>
            <a:ext cx="694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fases con gates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423160" y="4233672"/>
            <a:ext cx="157276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762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69464" y="4379976"/>
            <a:ext cx="56692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182112" y="4434840"/>
            <a:ext cx="694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clave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242816" y="4233672"/>
            <a:ext cx="157276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762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89120" y="4379976"/>
            <a:ext cx="56692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001768" y="4434840"/>
            <a:ext cx="694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bloqueantes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603504" y="5577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891B2"/>
                </a:solidFill>
              </a:rPr>
              <a:t>Mensaje para dirección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603504" y="583387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No es “más documentación”: es menor riesgo, mejor trazabilidad y decisiones de delivery más rápidas.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Evolith • Product Vision &amp; SDLC Operating Model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65408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921240" y="438912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2563EB">
              <a:alpha val="14000"/>
            </a:srgbClr>
          </a:solidFill>
          <a:ln w="1016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30968" y="516636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PRODUCTO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931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promesa de Evolith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1208" y="877824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Una plataforma de referencia que traduce gobierno técnico en resultados visibles para negocio y tecnología.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32918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7620">
            <a:solidFill>
              <a:srgbClr val="CBD5E1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1691640"/>
            <a:ext cx="512064" cy="51206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1837944"/>
            <a:ext cx="201168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54480" y="1746504"/>
            <a:ext cx="1874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Dolor actual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423160"/>
            <a:ext cx="26060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dispersas, documentación débil, QA tardío y releases con alta dependencia de conocimiento tribal.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87368" y="2798064"/>
            <a:ext cx="283464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34840" y="1417320"/>
            <a:ext cx="32918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7620">
            <a:solidFill>
              <a:srgbClr val="CBD5E1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691640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837944"/>
            <a:ext cx="201168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03520" y="1746504"/>
            <a:ext cx="1874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Evolith habilita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423160"/>
            <a:ext cx="26060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modelo gobernado: blueprints, ADRs, SDLC, quality gates, trazabilidad y operación observable.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36408" y="2798064"/>
            <a:ext cx="283464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83880" y="1417320"/>
            <a:ext cx="32918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7620">
            <a:solidFill>
              <a:srgbClr val="CBD5E1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0" y="1691640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67928" y="1837944"/>
            <a:ext cx="201168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052560" y="1746504"/>
            <a:ext cx="1874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03920" y="2423160"/>
            <a:ext cx="26060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más predecible, releases auditables, menor riesgo arquitectónico y mejor control ejecutivo.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736592"/>
            <a:ext cx="10817352" cy="100584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7620">
            <a:solidFill>
              <a:srgbClr val="BFDBFE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0120" y="5010912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Lentes ejecutivos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23160" y="4919472"/>
            <a:ext cx="1143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Inversión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2423160" y="5285232"/>
            <a:ext cx="1143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y valor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4114800" y="4919472"/>
            <a:ext cx="1143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4114800" y="5285232"/>
            <a:ext cx="1143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y seguridad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5806440" y="4919472"/>
            <a:ext cx="1143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5806440" y="5285232"/>
            <a:ext cx="1143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y velocidad</a:t>
            </a:r>
            <a:endParaRPr lang="en-US" sz="760" dirty="0"/>
          </a:p>
        </p:txBody>
      </p:sp>
      <p:sp>
        <p:nvSpPr>
          <p:cNvPr id="35" name="Text 33"/>
          <p:cNvSpPr/>
          <p:nvPr/>
        </p:nvSpPr>
        <p:spPr>
          <a:xfrm>
            <a:off x="7498080" y="4919472"/>
            <a:ext cx="1143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7498080" y="5285232"/>
            <a:ext cx="1143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gates objetivos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9189720" y="4919472"/>
            <a:ext cx="1143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9189720" y="5285232"/>
            <a:ext cx="1143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observabilidad y rollback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Evolith • Product Vision &amp; SDLC Operating Model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65408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921240" y="438912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7C3AED">
              <a:alpha val="14000"/>
            </a:srgbClr>
          </a:solidFill>
          <a:ln w="1016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30968" y="516636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SDLC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931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SDLC compatible y fácil de seguir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1208" y="877824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El ciclo completo se lee como una cadena de decisiones: cada gate valida evidencia antes de avanzar.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66928" y="1508760"/>
            <a:ext cx="1965960" cy="33375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7620">
            <a:solidFill>
              <a:srgbClr val="2563EB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737360"/>
            <a:ext cx="411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5296" y="1783080"/>
            <a:ext cx="1005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" y="2267712"/>
            <a:ext cx="1508760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2578608"/>
            <a:ext cx="411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13816" y="2834640"/>
            <a:ext cx="1417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Sign-Off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13816" y="3721608"/>
            <a:ext cx="7498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13816" y="3986784"/>
            <a:ext cx="1417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PRD + alcance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542032" y="3154680"/>
            <a:ext cx="310896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889504" y="1508760"/>
            <a:ext cx="1965960" cy="33375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7620">
            <a:solidFill>
              <a:srgbClr val="7C3AED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54096" y="1737360"/>
            <a:ext cx="411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47872" y="1783080"/>
            <a:ext cx="1005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18104" y="2267712"/>
            <a:ext cx="1508760" cy="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36392" y="2578608"/>
            <a:ext cx="411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136392" y="2834640"/>
            <a:ext cx="1417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3136392" y="3721608"/>
            <a:ext cx="7498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136392" y="3986784"/>
            <a:ext cx="1417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ADRs + historias funcionales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864608" y="3154680"/>
            <a:ext cx="310896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212080" y="1508760"/>
            <a:ext cx="1965960" cy="33375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7620">
            <a:solidFill>
              <a:srgbClr val="059669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76672" y="1737360"/>
            <a:ext cx="411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870448" y="1783080"/>
            <a:ext cx="1005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Construcción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40680" y="2267712"/>
            <a:ext cx="1508760" cy="0"/>
          </a:xfrm>
          <a:prstGeom prst="line">
            <a:avLst/>
          </a:prstGeom>
          <a:noFill/>
          <a:ln w="1397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58968" y="2578608"/>
            <a:ext cx="411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58968" y="2834640"/>
            <a:ext cx="1417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Successful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5458968" y="3721608"/>
            <a:ext cx="7498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458968" y="3986784"/>
            <a:ext cx="1417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Historias técnicas + CI + DoD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7187184" y="3154680"/>
            <a:ext cx="310896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534656" y="1508760"/>
            <a:ext cx="1965960" cy="33375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7620">
            <a:solidFill>
              <a:srgbClr val="D97706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699248" y="1737360"/>
            <a:ext cx="411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193024" y="1783080"/>
            <a:ext cx="1005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763256" y="2267712"/>
            <a:ext cx="1508760" cy="0"/>
          </a:xfrm>
          <a:prstGeom prst="line">
            <a:avLst/>
          </a:prstGeom>
          <a:noFill/>
          <a:ln w="1397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81544" y="2578608"/>
            <a:ext cx="411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781544" y="2834640"/>
            <a:ext cx="1417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Stamped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7781544" y="3721608"/>
            <a:ext cx="7498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781544" y="3986784"/>
            <a:ext cx="1417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Summary + quality gates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9509760" y="3154680"/>
            <a:ext cx="310896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857232" y="1508760"/>
            <a:ext cx="1965960" cy="33375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7620">
            <a:solidFill>
              <a:srgbClr val="0891B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4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0021824" y="1737360"/>
            <a:ext cx="411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0515600" y="1783080"/>
            <a:ext cx="1005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085832" y="2267712"/>
            <a:ext cx="1508760" cy="0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104120" y="2578608"/>
            <a:ext cx="411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0104120" y="2834640"/>
            <a:ext cx="1417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1220" dirty="0"/>
          </a:p>
        </p:txBody>
      </p:sp>
      <p:sp>
        <p:nvSpPr>
          <p:cNvPr id="52" name="Text 50"/>
          <p:cNvSpPr/>
          <p:nvPr/>
        </p:nvSpPr>
        <p:spPr>
          <a:xfrm>
            <a:off x="10104120" y="3721608"/>
            <a:ext cx="7498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0104120" y="3986784"/>
            <a:ext cx="1417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Notes + observabilidad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960120" y="5413248"/>
            <a:ext cx="10287000" cy="603504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 w="7620">
            <a:solidFill>
              <a:srgbClr val="A7F3D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4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234440" y="5632704"/>
            <a:ext cx="9738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65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directiva: ningún gate pasa sin evidencia versionada; ningún waiver existe sin owner, fecha de expiración y mitigación.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Evolith • Product Vision &amp; SDLC Operating Model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65408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921240" y="438912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059669">
              <a:alpha val="14000"/>
            </a:srgbClr>
          </a:solidFill>
          <a:ln w="10160">
            <a:solidFill>
              <a:srgbClr val="059669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30968" y="516636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EVIDENCIA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931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Artefactos clave: qué se produce y para qué sirve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1208" y="877824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El valor está en la cadena completa: intención de negocio, decisión técnica, ejecución, validación y operación.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66928" y="1481328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700784"/>
            <a:ext cx="21945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359152"/>
            <a:ext cx="10241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PRD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1280160" y="1810512"/>
            <a:ext cx="63093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984248" y="1481328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1700784"/>
            <a:ext cx="21945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01368" y="2359152"/>
            <a:ext cx="10241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697480" y="1810512"/>
            <a:ext cx="63093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401568" y="1481328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1024" y="1700784"/>
            <a:ext cx="21945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18688" y="2359152"/>
            <a:ext cx="10241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114800" y="1810512"/>
            <a:ext cx="63093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18888" y="1481328"/>
            <a:ext cx="658368" cy="6583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38344" y="1700784"/>
            <a:ext cx="21945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36008" y="2359152"/>
            <a:ext cx="10241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5532120" y="1810512"/>
            <a:ext cx="63093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36208" y="1481328"/>
            <a:ext cx="658368" cy="6583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55664" y="1700784"/>
            <a:ext cx="21945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53328" y="2359152"/>
            <a:ext cx="10241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949440" y="1810512"/>
            <a:ext cx="63093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653528" y="1481328"/>
            <a:ext cx="658368" cy="6583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72984" y="1700784"/>
            <a:ext cx="21945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70648" y="2359152"/>
            <a:ext cx="10241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8366760" y="1810512"/>
            <a:ext cx="63093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70848" y="1481328"/>
            <a:ext cx="658368" cy="6583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90304" y="1700784"/>
            <a:ext cx="21945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887968" y="2359152"/>
            <a:ext cx="10241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9784080" y="1810512"/>
            <a:ext cx="63093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488168" y="1481328"/>
            <a:ext cx="658368" cy="6583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07624" y="1700784"/>
            <a:ext cx="21945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305288" y="2359152"/>
            <a:ext cx="10241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685800" y="3246120"/>
            <a:ext cx="3429000" cy="1664208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 w="7620">
            <a:solidFill>
              <a:srgbClr val="CBD5E1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60120" y="352958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siempre requerida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60120" y="3913632"/>
            <a:ext cx="2468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Agnostic Baseline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960120" y="4114800"/>
            <a:ext cx="2468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Reference Blueprint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960120" y="4315968"/>
            <a:ext cx="2468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Engineering Manifesto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960120" y="4517136"/>
            <a:ext cx="2468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Definition of Done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960120" y="4718304"/>
            <a:ext cx="2468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Repository Taxonomy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389120" y="3246120"/>
            <a:ext cx="3429000" cy="1664208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 w="7620">
            <a:solidFill>
              <a:srgbClr val="CBD5E1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4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663440" y="352958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oficiales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663440" y="3877056"/>
            <a:ext cx="2468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PRD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4663440" y="4059936"/>
            <a:ext cx="2468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ADR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4663440" y="4242816"/>
            <a:ext cx="2468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Functional Story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4663440" y="4425696"/>
            <a:ext cx="2468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Technical Story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4663440" y="4608576"/>
            <a:ext cx="2468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Summary Report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4663440" y="4791456"/>
            <a:ext cx="2468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Release Notes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8092440" y="3246120"/>
            <a:ext cx="3429000" cy="1664208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 w="7620">
            <a:solidFill>
              <a:srgbClr val="CBD5E1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4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8366760" y="352958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gates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366760" y="3913632"/>
            <a:ext cx="2468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Coverage &gt;= 80%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8366760" y="4133088"/>
            <a:ext cx="2468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Complexity &lt;= 15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8366760" y="4352544"/>
            <a:ext cx="2468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 High/Critical CVEs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8366760" y="4572000"/>
            <a:ext cx="24688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Technical debt &lt; 5%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1097280" y="5760720"/>
            <a:ext cx="9966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ejecutiva: si un artefacto no enlaza con el anterior y el siguiente, la cadena de control está incompleta.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Evolith • Product Vision &amp; SDLC Operating Model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265408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05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438912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059669">
              <a:alpha val="90000"/>
            </a:srgbClr>
          </a:solidFill>
          <a:ln w="10160">
            <a:solidFill>
              <a:srgbClr val="059669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16636"/>
            <a:ext cx="1106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SEGUIMIENTO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30352" y="9418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hacer seguimiento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</a:rPr>
              <a:t>Un tablero mínimo permite controlar inversión, arquitectura, calidad y operación sin entrar en exceso de detalle técnico.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58368" y="2359152"/>
            <a:ext cx="6949440" cy="3429000"/>
          </a:xfrm>
          <a:prstGeom prst="roundRect">
            <a:avLst>
              <a:gd name="adj" fmla="val 4000"/>
            </a:avLst>
          </a:prstGeom>
          <a:solidFill>
            <a:srgbClr val="111C32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70048"/>
            <a:ext cx="2468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ejecutivo mínimo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127248"/>
            <a:ext cx="1280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926080" y="312724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Saludable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166360" y="3127248"/>
            <a:ext cx="1554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 si...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41832" y="3291840"/>
            <a:ext cx="6327648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60120" y="3401568"/>
            <a:ext cx="14173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status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926080" y="3401568"/>
            <a:ext cx="173736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fase, owner, fecha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66360" y="3401568"/>
            <a:ext cx="17830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evidencia / vencido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41832" y="3712464"/>
            <a:ext cx="6327648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960120" y="3822192"/>
            <a:ext cx="14173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ADRs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2926080" y="3822192"/>
            <a:ext cx="173736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aprobadas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66360" y="3822192"/>
            <a:ext cx="17830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aparece en código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41832" y="4133088"/>
            <a:ext cx="6327648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60120" y="4242816"/>
            <a:ext cx="14173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gates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2926080" y="4242816"/>
            <a:ext cx="173736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CI, coverage, CVEs, deuda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66360" y="4242816"/>
            <a:ext cx="17830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manual o inseguro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41832" y="4553712"/>
            <a:ext cx="6327648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960120" y="4663440"/>
            <a:ext cx="14173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2926080" y="4663440"/>
            <a:ext cx="173736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PRD → release navegable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66360" y="4663440"/>
            <a:ext cx="17830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sin origen de negocio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41832" y="4974336"/>
            <a:ext cx="6327648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960120" y="5084064"/>
            <a:ext cx="14173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readiness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2926080" y="5084064"/>
            <a:ext cx="173736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 + observabilidad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66360" y="5084064"/>
            <a:ext cx="17830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despliegue sin recuperación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001000" y="2359152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15213A"/>
          </a:solidFill>
          <a:ln w="762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5320" y="2633472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Cadencia sugerida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75320" y="2971800"/>
            <a:ext cx="2651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review por fase + comité ejecutivo por release.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01000" y="3584448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15213A"/>
          </a:solidFill>
          <a:ln w="762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3858768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Piloto recomendado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75320" y="4187952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un producto, mapear artefactos existentes y ejecutar el primer gate review.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01000" y="4809744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064E3B"/>
          </a:solidFill>
          <a:ln w="7620">
            <a:solidFill>
              <a:srgbClr val="10B981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75320" y="5074920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acción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75320" y="5404104"/>
            <a:ext cx="26974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D1F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de 60 minutos para activar Evolith SDLC en un producto real.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BeyondNetCode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Evolith Executive Product Vision</dc:title>
  <dc:subject>Evolith executive product vision and SDLC operating model</dc:subject>
  <dc:creator>BeyondNetCode / ChatGPT</dc:creator>
  <cp:lastModifiedBy>BeyondNetCode / ChatGPT</cp:lastModifiedBy>
  <cp:revision>1</cp:revision>
  <dcterms:created xsi:type="dcterms:W3CDTF">2026-06-01T15:53:12Z</dcterms:created>
  <dcterms:modified xsi:type="dcterms:W3CDTF">2026-06-01T15:53:12Z</dcterms:modified>
</cp:coreProperties>
</file>