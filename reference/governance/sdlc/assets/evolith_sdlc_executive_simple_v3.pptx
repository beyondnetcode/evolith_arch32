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B2E"/>
                </a:solidFill>
              </a:defRPr>
            </a:pPr>
            <a:r>
              <a:t>Evolith SDLC: gobernanza sin burocracia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Un modelo simple para convertir intención de negocio en software listo para producción.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1005840"/>
          </a:xfrm>
          <a:prstGeom prst="round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10287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No se trata de documentar más. Se trata de decidir mejor, reducir riesgo y entregar con evidencia.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874519" cy="9601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50" b="1">
                <a:solidFill>
                  <a:srgbClr val="0A1B2E"/>
                </a:solidFill>
              </a:defRPr>
            </a:pPr>
            <a:r>
              <a:t>Business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¿Por qué?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3364992"/>
            <a:ext cx="320040" cy="0"/>
          </a:xfrm>
          <a:prstGeom prst="line">
            <a:avLst/>
          </a:prstGeom>
          <a:ln w="25400">
            <a:solidFill>
              <a:srgbClr val="00A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5808" y="2880360"/>
            <a:ext cx="1874519" cy="9601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3035808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50" b="1">
                <a:solidFill>
                  <a:srgbClr val="0A1B2E"/>
                </a:solidFill>
              </a:defRPr>
            </a:pPr>
            <a: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37560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¿Cómo?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60" y="3364992"/>
            <a:ext cx="320040" cy="0"/>
          </a:xfrm>
          <a:prstGeom prst="line">
            <a:avLst/>
          </a:prstGeom>
          <a:ln w="25400">
            <a:solidFill>
              <a:srgbClr val="00A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40096" y="2880360"/>
            <a:ext cx="1874519" cy="9601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3035808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50" b="1">
                <a:solidFill>
                  <a:srgbClr val="0A1B2E"/>
                </a:solidFill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3337560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¿Está hecho?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42048" y="3364992"/>
            <a:ext cx="320040" cy="0"/>
          </a:xfrm>
          <a:prstGeom prst="line">
            <a:avLst/>
          </a:prstGeom>
          <a:ln w="25400">
            <a:solidFill>
              <a:srgbClr val="00A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44384" y="2880360"/>
            <a:ext cx="1874519" cy="9601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4" y="3035808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50" b="1">
                <a:solidFill>
                  <a:srgbClr val="0A1B2E"/>
                </a:solidFill>
              </a:defRPr>
            </a:pPr>
            <a: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3337560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¿Es seguro?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46336" y="3364992"/>
            <a:ext cx="320040" cy="0"/>
          </a:xfrm>
          <a:prstGeom prst="line">
            <a:avLst/>
          </a:prstGeom>
          <a:ln w="25400">
            <a:solidFill>
              <a:srgbClr val="00A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48672" y="2880360"/>
            <a:ext cx="1874519" cy="9601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2" y="3035808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50" b="1">
                <a:solidFill>
                  <a:srgbClr val="0A1B2E"/>
                </a:solidFill>
              </a:defRPr>
            </a:pPr>
            <a: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3337560"/>
            <a:ext cx="1691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¿Opera?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805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73152" cy="1143000"/>
          </a:xfrm>
          <a:prstGeom prst="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617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Para ejecutivos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Visibilidad clara de riesgos, decisiones y readiness del release.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805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480560"/>
            <a:ext cx="73152" cy="11430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617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Para líderes técnicos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Criterios objetivos para diseñar, construir y validar sin ambigüedad.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48056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48056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4617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Para equipos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Un camino práctico: fases aplicables, responsables y artefactos mínimos.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Evolith SDLC · Executive adoption pack v3 ·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B2E"/>
                </a:solidFill>
              </a:defRPr>
            </a:pPr>
            <a:r>
              <a:t>Adopción progresiva: no todo aplica desde el día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Evolith se calibra según riesgo, madurez, criticidad y número de equipos.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00784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100" b="1">
                <a:solidFill>
                  <a:srgbClr val="0A1B2E"/>
                </a:solidFill>
              </a:defRPr>
            </a:pPr>
            <a: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88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1">
                <a:solidFill>
                  <a:srgbClr val="182537"/>
                </a:solidFill>
              </a:defRPr>
            </a:pPr>
            <a:r>
              <a:t>MVPs, pilotos, equipos pequeños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PRD · Functional Story · Technical Story · Release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33087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50" b="0">
                <a:solidFill>
                  <a:srgbClr val="0A1B2E"/>
                </a:solidFill>
              </a:defRPr>
            </a:pPr>
            <a:r>
              <a:t>Resultado: adopción suficiente, no burocracia excesiva.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29000" cy="3520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1691640"/>
            <a:ext cx="548640" cy="548640"/>
          </a:xfrm>
          <a:prstGeom prst="ellipse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792224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00784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100" b="1">
                <a:solidFill>
                  <a:srgbClr val="0A1B2E"/>
                </a:solidFill>
              </a:defRPr>
            </a:pPr>
            <a:r>
              <a:t>Governed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31720"/>
            <a:ext cx="2788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1">
                <a:solidFill>
                  <a:srgbClr val="182537"/>
                </a:solidFill>
              </a:defRPr>
            </a:pPr>
            <a:r>
              <a:t>Releases productivos o clientes externos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7180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+ ADR · Test Summary Report · 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133087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50" b="0">
                <a:solidFill>
                  <a:srgbClr val="0A1B2E"/>
                </a:solidFill>
              </a:defRPr>
            </a:pPr>
            <a:r>
              <a:t>Resultado: adopción suficiente, no burocracia excesiva.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417320"/>
            <a:ext cx="3429000" cy="3520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16916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792224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00784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100" b="1">
                <a:solidFill>
                  <a:srgbClr val="0A1B2E"/>
                </a:solidFill>
              </a:defRPr>
            </a:pPr>
            <a: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331720"/>
            <a:ext cx="2788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1">
                <a:solidFill>
                  <a:srgbClr val="182537"/>
                </a:solidFill>
              </a:defRPr>
            </a:pPr>
            <a:r>
              <a:t>Multi-equipo, regulado o crítico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7180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+ RACI · Executive Scorecard ·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33087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50" b="0">
                <a:solidFill>
                  <a:srgbClr val="0A1B2E"/>
                </a:solidFill>
              </a:defRPr>
            </a:pPr>
            <a:r>
              <a:t>Resultado: adopción suficiente, no burocracia excesiva.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32120"/>
            <a:ext cx="10332720" cy="502920"/>
          </a:xfrm>
          <a:prstGeom prst="round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650992"/>
            <a:ext cx="10058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Regla ejecutiva: más riesgo ⇒ más evidencia. Menos riesgo ⇒ artefactos mínimos.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Evolith SDLC · Executive adoption pack v3 ·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B2E"/>
                </a:solidFill>
              </a:defRPr>
            </a:pPr>
            <a:r>
              <a:t>Flujo operativo: 5 fases, 5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Cada fase responde una pregunta y produce evidencia para avanzar.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Fase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078992"/>
            <a:ext cx="3840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Pregunta de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78992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Evidencia mínima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828800" cy="566928"/>
          </a:xfrm>
          <a:prstGeom prst="round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Definir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27048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20" b="1">
                <a:solidFill>
                  <a:srgbClr val="0A1B2E"/>
                </a:solidFill>
              </a:defRPr>
            </a:pPr>
            <a:r>
              <a:t>¿Qué vamos a resolver?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27048"/>
            <a:ext cx="3291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0">
                <a:solidFill>
                  <a:srgbClr val="182537"/>
                </a:solidFill>
              </a:defRPr>
            </a:pPr>
            <a:r>
              <a:t>PRD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700784"/>
            <a:ext cx="137160" cy="0"/>
          </a:xfrm>
          <a:prstGeom prst="line">
            <a:avLst/>
          </a:prstGeom>
          <a:ln w="25400">
            <a:solidFill>
              <a:srgbClr val="00A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258568"/>
            <a:ext cx="1828800" cy="56692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1401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Diseñar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368296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20" b="1">
                <a:solidFill>
                  <a:srgbClr val="0A1B2E"/>
                </a:solidFill>
              </a:defRPr>
            </a:pPr>
            <a:r>
              <a:t>¿Cómo lo haremos sin romper arquitectura?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68296"/>
            <a:ext cx="3291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0">
                <a:solidFill>
                  <a:srgbClr val="182537"/>
                </a:solidFill>
              </a:defRPr>
            </a:pPr>
            <a:r>
              <a:t>Functional Story / ADR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542032"/>
            <a:ext cx="13716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099816"/>
            <a:ext cx="1828800" cy="566928"/>
          </a:xfrm>
          <a:prstGeom prst="round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55264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Construir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209544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20" b="1">
                <a:solidFill>
                  <a:srgbClr val="0A1B2E"/>
                </a:solidFill>
              </a:defRPr>
            </a:pPr>
            <a:r>
              <a:t>¿Está hecho según estándar?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09544"/>
            <a:ext cx="3291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0">
                <a:solidFill>
                  <a:srgbClr val="182537"/>
                </a:solidFill>
              </a:defRPr>
            </a:pPr>
            <a:r>
              <a:t>Technical Story / CI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3383280"/>
            <a:ext cx="137160" cy="0"/>
          </a:xfrm>
          <a:prstGeom prst="line">
            <a:avLst/>
          </a:prstGeom>
          <a:ln w="25400">
            <a:solidFill>
              <a:srgbClr val="148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3941064"/>
            <a:ext cx="182880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96512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Validar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050792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20" b="1">
                <a:solidFill>
                  <a:srgbClr val="0A1B2E"/>
                </a:solidFill>
              </a:defRPr>
            </a:pPr>
            <a:r>
              <a:t>¿Es seguro liberar?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050792"/>
            <a:ext cx="3291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0">
                <a:solidFill>
                  <a:srgbClr val="182537"/>
                </a:solidFill>
              </a:defRPr>
            </a:pPr>
            <a:r>
              <a:t>Test Summary Report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4224528"/>
            <a:ext cx="13716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782312"/>
            <a:ext cx="1828800" cy="566928"/>
          </a:xfrm>
          <a:prstGeom prst="round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937760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Liberar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892040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20" b="1">
                <a:solidFill>
                  <a:srgbClr val="0A1B2E"/>
                </a:solidFill>
              </a:defRPr>
            </a:pPr>
            <a:r>
              <a:t>¿Está listo para operar y revertir?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892040"/>
            <a:ext cx="3291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0">
                <a:solidFill>
                  <a:srgbClr val="182537"/>
                </a:solidFill>
              </a:defRPr>
            </a:pPr>
            <a:r>
              <a:t>Release Notes / Observability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51760" y="5065776"/>
            <a:ext cx="137160" cy="0"/>
          </a:xfrm>
          <a:prstGeom prst="line">
            <a:avLst/>
          </a:prstGeom>
          <a:ln w="25400">
            <a:solidFill>
              <a:srgbClr val="148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" y="5806440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806440"/>
            <a:ext cx="73152" cy="50292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5943600"/>
            <a:ext cx="10469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Mensaje clave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6309359"/>
            <a:ext cx="10469880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La fase no avanza por reunión o percepción: avanza por evidencia, responsable y decisión registrada.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Evolith SDLC · Executive adoption pack v3 ·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B2E"/>
                </a:solidFill>
              </a:defRPr>
            </a:pPr>
            <a:r>
              <a:t>Artefactos clave: cada uno existe para tomar una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La documentación se reduce al mínimo necesario para gobernar el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50876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0876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PRD</a:t>
            </a:r>
            <a:br/>
            <a:r>
              <a:t>¿Por qué hacerlo?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73152" cy="1508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50876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74519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Functional Story / ADR</a:t>
            </a:r>
            <a:br/>
            <a:r>
              <a:t>¿Qué debe pasar y bajo qué decisión?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71600"/>
            <a:ext cx="73152" cy="1508760"/>
          </a:xfrm>
          <a:prstGeom prst="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50876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Construcción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874519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Technical Story</a:t>
            </a:r>
            <a:br/>
            <a:r>
              <a:t>¿Qué se implementa y cómo se verifica?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3756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474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Calidad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40480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Test Summary Report</a:t>
            </a:r>
            <a:br/>
            <a:r>
              <a:t>¿Está validado para release?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375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337560"/>
            <a:ext cx="73152" cy="1508760"/>
          </a:xfrm>
          <a:prstGeom prst="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474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840480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Release Notes</a:t>
            </a:r>
            <a:br/>
            <a:r>
              <a:t>¿Se puede operar y revertir?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375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337560"/>
            <a:ext cx="73152" cy="15087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3474720"/>
            <a:ext cx="3154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1">
                <a:solidFill>
                  <a:srgbClr val="0A1B2E"/>
                </a:solidFill>
              </a:defRPr>
            </a:pPr>
            <a:r>
              <a:t>Gobierno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840480"/>
            <a:ext cx="3154680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080" b="0">
                <a:solidFill>
                  <a:srgbClr val="182537"/>
                </a:solidFill>
              </a:defRPr>
            </a:pPr>
            <a:r>
              <a:t>Executive Scorecard</a:t>
            </a:r>
            <a:br/>
            <a:r>
              <a:t>¿Avanzamos, bloqueamos o escalamos?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15000"/>
            <a:ext cx="10652760" cy="594360"/>
          </a:xfrm>
          <a:prstGeom prst="round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79592"/>
            <a:ext cx="103327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Regla: si un artefacto no ayuda a decidir, validar o operar, no debe ser obligatorio.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Evolith SDLC · Executive adoption pack v3 ·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B2E"/>
                </a:solidFill>
              </a:defRPr>
            </a:pPr>
            <a:r>
              <a:t>Seguimiento ejecutivo: saber si avanzar, bloquear o escalar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Un scorecard simple convierte el SDLC en gestión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0A1B2E"/>
                </a:solidFill>
              </a:defRPr>
            </a:pPr>
            <a:r>
              <a:t>Executive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Overall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965960"/>
            <a:ext cx="26517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075688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1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Current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606039"/>
            <a:ext cx="2651760" cy="411480"/>
          </a:xfrm>
          <a:prstGeom prst="round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715768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RC Stamped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1371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246120"/>
            <a:ext cx="265176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355848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Conditional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182537"/>
                </a:solidFill>
              </a:defRPr>
            </a:pPr>
            <a:r>
              <a:t>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005072"/>
            <a:ext cx="23774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03120" y="4005072"/>
            <a:ext cx="1901952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7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</a:defRPr>
            </a:pPr>
            <a: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702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182537"/>
                </a:solidFill>
              </a:defRPr>
            </a:pPr>
            <a:r>
              <a:t>Artifacts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297680"/>
            <a:ext cx="23774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03120" y="4297680"/>
            <a:ext cx="17830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242816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</a:defRPr>
            </a:pPr>
            <a: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62855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182537"/>
                </a:solidFill>
              </a:defRPr>
            </a:pPr>
            <a:r>
              <a:t>RACI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590288"/>
            <a:ext cx="23774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03120" y="4590288"/>
            <a:ext cx="2139696" cy="109728"/>
          </a:xfrm>
          <a:prstGeom prst="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535423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</a:defRPr>
            </a:pPr>
            <a: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55464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182537"/>
                </a:solidFill>
              </a:defRPr>
            </a:pPr>
            <a: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4882896"/>
            <a:ext cx="23774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3120" y="4882896"/>
            <a:ext cx="166420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828031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</a:defRPr>
            </a:pPr>
            <a:r>
              <a:t>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48072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50" b="0">
                <a:solidFill>
                  <a:srgbClr val="182537"/>
                </a:solidFill>
              </a:defRPr>
            </a:pPr>
            <a:r>
              <a:t>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175504"/>
            <a:ext cx="237744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03120" y="5175504"/>
            <a:ext cx="950976" cy="10972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120640"/>
            <a:ext cx="4572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</a:defRPr>
            </a:pPr>
            <a:r>
              <a:t>40%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1234440"/>
            <a:ext cx="5440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46304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0A1B2E"/>
                </a:solidFill>
              </a:defRPr>
            </a:pPr>
            <a:r>
              <a:t>Lo que liderazgo necesita 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011680"/>
            <a:ext cx="228600" cy="228600"/>
          </a:xfrm>
          <a:prstGeom prst="round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1993392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1">
                <a:solidFill>
                  <a:srgbClr val="0A1B2E"/>
                </a:solidFill>
              </a:defRPr>
            </a:pPr>
            <a:r>
              <a:t>Top 3 riesgos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1993392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Lo que puede bloquear el gate.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2697480"/>
            <a:ext cx="228600" cy="228600"/>
          </a:xfrm>
          <a:prstGeom prst="round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679192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1">
                <a:solidFill>
                  <a:srgbClr val="0A1B2E"/>
                </a:solidFill>
              </a:defRPr>
            </a:pPr>
            <a:r>
              <a:t>Top 3 acciones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679192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Quién resuelve y para cuándo.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383280"/>
            <a:ext cx="228600" cy="228600"/>
          </a:xfrm>
          <a:prstGeom prst="round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3364992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1">
                <a:solidFill>
                  <a:srgbClr val="0A1B2E"/>
                </a:solidFill>
              </a:defRPr>
            </a:pPr>
            <a:r>
              <a:t>Próxima decisión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364992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Proceed / Conditional / Block / Escalate.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069080"/>
            <a:ext cx="228600" cy="228600"/>
          </a:xfrm>
          <a:prstGeom prst="roundRect">
            <a:avLst/>
          </a:prstGeom>
          <a:solidFill>
            <a:srgbClr val="14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4050792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50" b="1">
                <a:solidFill>
                  <a:srgbClr val="0A1B2E"/>
                </a:solidFill>
              </a:defRPr>
            </a:pPr>
            <a:r>
              <a:t>Evidencia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4050792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Links a artefactos y quality gates.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897880"/>
            <a:ext cx="10652760" cy="502920"/>
          </a:xfrm>
          <a:prstGeom prst="round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6016752"/>
            <a:ext cx="103327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Resultado: en 15 minutos todos saben qué falta, quién lo resuelve y si el release puede avanzar.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Evolith SDLC · Executive adoption pack v3 ·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