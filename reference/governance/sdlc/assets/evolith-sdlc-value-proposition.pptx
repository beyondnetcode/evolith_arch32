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57200"/>
            <a:ext cx="8229600" cy="914400"/>
          </a:xfrm>
        </p:spPr>
        <p:txBody>
          <a:bodyPr/>
          <a:lstStyle/>
          <a:p>
            <a:pPr algn="l"/>
            <a:r>
              <a:rPr sz="3600" b="1">
                <a:solidFill>
                  <a:srgbClr val="CAC5B2"/>
                </a:solidFill>
              </a:rPr>
              <a:t>Evolith: Gobernanza Inteligente del SDLC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400">
                <a:solidFill>
                  <a:srgbClr val="FFFFFF"/>
                </a:solidFill>
              </a:defRPr>
            </a:pPr>
            <a:r>
              <a:t>Transforme la entrega de tecnología en valor de negocio.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3657600"/>
            <a:ext cx="1828800" cy="1828800"/>
          </a:xfrm>
          <a:prstGeom prst="roundRect">
            <a:avLst/>
          </a:prstGeom>
          <a:solidFill>
            <a:srgbClr val="121212"/>
          </a:solidFill>
          <a:ln w="25400">
            <a:solidFill>
              <a:srgbClr val="CAC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21212"/>
                </a:solidFill>
              </a:rPr>
              <a:t>EVOLITH</a:t>
            </a:r>
          </a:p>
          <a:p>
            <a:pPr algn="ctr"/>
            <a:r>
              <a:rPr sz="1400" b="1">
                <a:solidFill>
                  <a:srgbClr val="121212"/>
                </a:solidFill>
              </a:rPr>
              <a:t>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0"/>
            <a:ext cx="1828800" cy="914400"/>
          </a:xfrm>
          <a:prstGeom prst="roundRect">
            <a:avLst/>
          </a:prstGeom>
          <a:noFill/>
          <a:ln w="25400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960000"/>
                </a:solidFill>
              </a:rPr>
              <a:t>Silos de</a:t>
            </a:r>
          </a:p>
          <a:p>
            <a:pPr algn="ctr"/>
            <a:r>
              <a:rPr sz="1400" b="1">
                <a:solidFill>
                  <a:srgbClr val="960000"/>
                </a:solidFill>
              </a:rPr>
              <a:t>Negocio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828800"/>
            <a:ext cx="1828800" cy="914400"/>
          </a:xfrm>
          <a:prstGeom prst="roundRect">
            <a:avLst/>
          </a:prstGeom>
          <a:noFill/>
          <a:ln w="25400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960000"/>
                </a:solidFill>
              </a:rPr>
              <a:t>Desarrollo</a:t>
            </a:r>
          </a:p>
          <a:p>
            <a:pPr algn="ctr"/>
            <a:r>
              <a:rPr sz="1400" b="1">
                <a:solidFill>
                  <a:srgbClr val="960000"/>
                </a:solidFill>
              </a:rPr>
              <a:t>Aislado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828800"/>
            <a:ext cx="1828800" cy="914400"/>
          </a:xfrm>
          <a:prstGeom prst="roundRect">
            <a:avLst/>
          </a:prstGeom>
          <a:noFill/>
          <a:ln w="25400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960000"/>
                </a:solidFill>
              </a:rPr>
              <a:t>QA</a:t>
            </a:r>
          </a:p>
          <a:p>
            <a:pPr algn="ctr"/>
            <a:r>
              <a:rPr sz="1400" b="1">
                <a:solidFill>
                  <a:srgbClr val="960000"/>
                </a:solidFill>
              </a:rPr>
              <a:t>Tardío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114800"/>
            <a:ext cx="8229600" cy="1828800"/>
          </a:xfrm>
          <a:prstGeom prst="roundRect">
            <a:avLst/>
          </a:prstGeom>
          <a:noFill/>
          <a:ln w="25400">
            <a:solidFill>
              <a:srgbClr val="CAC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CAC5B2"/>
                </a:solidFill>
              </a:rPr>
              <a:t>Gobernanza SDLC Evolith (End-to-End Trazabilidad)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572000"/>
            <a:ext cx="1371600" cy="914400"/>
          </a:xfrm>
          <a:prstGeom prst="roundRect">
            <a:avLst/>
          </a:prstGeom>
          <a:solidFill>
            <a:srgbClr val="CAC5B2"/>
          </a:solidFill>
          <a:ln w="254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21212"/>
                </a:solidFill>
              </a:rPr>
              <a:t>Ideación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77440" y="4846320"/>
            <a:ext cx="365760" cy="365760"/>
          </a:xfrm>
          <a:prstGeom prst="rightArrow">
            <a:avLst/>
          </a:prstGeom>
          <a:solidFill>
            <a:srgbClr val="CAC5B2"/>
          </a:solidFill>
          <a:ln>
            <a:solidFill>
              <a:srgbClr val="CAC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4572000"/>
            <a:ext cx="1371600" cy="914400"/>
          </a:xfrm>
          <a:prstGeom prst="roundRect">
            <a:avLst/>
          </a:prstGeom>
          <a:solidFill>
            <a:srgbClr val="CAC5B2"/>
          </a:solidFill>
          <a:ln w="254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21212"/>
                </a:solidFill>
              </a:rPr>
              <a:t>Construcción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97680" y="4846320"/>
            <a:ext cx="365760" cy="365760"/>
          </a:xfrm>
          <a:prstGeom prst="rightArrow">
            <a:avLst/>
          </a:prstGeom>
          <a:solidFill>
            <a:srgbClr val="CAC5B2"/>
          </a:solidFill>
          <a:ln>
            <a:solidFill>
              <a:srgbClr val="CAC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754880" y="4572000"/>
            <a:ext cx="1371600" cy="914400"/>
          </a:xfrm>
          <a:prstGeom prst="roundRect">
            <a:avLst/>
          </a:prstGeom>
          <a:solidFill>
            <a:srgbClr val="CAC5B2"/>
          </a:solidFill>
          <a:ln w="254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21212"/>
                </a:solidFill>
              </a:rPr>
              <a:t>Quality Gates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217920" y="4846320"/>
            <a:ext cx="365760" cy="365760"/>
          </a:xfrm>
          <a:prstGeom prst="rightArrow">
            <a:avLst/>
          </a:prstGeom>
          <a:solidFill>
            <a:srgbClr val="CAC5B2"/>
          </a:solidFill>
          <a:ln>
            <a:solidFill>
              <a:srgbClr val="CAC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75120" y="4572000"/>
            <a:ext cx="1371600" cy="914400"/>
          </a:xfrm>
          <a:prstGeom prst="roundRect">
            <a:avLst/>
          </a:prstGeom>
          <a:solidFill>
            <a:srgbClr val="CAC5B2"/>
          </a:solidFill>
          <a:ln w="254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21212"/>
                </a:solidFill>
              </a:rPr>
              <a:t>Producción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0"/>
            <a:ext cx="8229600" cy="1097280"/>
          </a:xfrm>
          <a:prstGeom prst="roundRect">
            <a:avLst/>
          </a:prstGeom>
          <a:noFill/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Negocio (Sponsor, PO)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3200400"/>
            <a:ext cx="8229600" cy="1097280"/>
          </a:xfrm>
          <a:prstGeom prst="roundRect">
            <a:avLst/>
          </a:prstGeom>
          <a:noFill/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Ingeniería (Arquitectura, Devs)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4572000"/>
            <a:ext cx="8229600" cy="1097280"/>
          </a:xfrm>
          <a:prstGeom prst="roundRect">
            <a:avLst/>
          </a:prstGeom>
          <a:noFill/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Operaciones (QA, Release)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2011680"/>
            <a:ext cx="914400" cy="731520"/>
          </a:xfrm>
          <a:prstGeom prst="roundRect">
            <a:avLst/>
          </a:prstGeom>
          <a:solidFill>
            <a:srgbClr val="CAC5B2"/>
          </a:solidFill>
          <a:ln w="254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21212"/>
                </a:solidFill>
              </a:rPr>
              <a:t>Gate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3383280"/>
            <a:ext cx="914400" cy="731520"/>
          </a:xfrm>
          <a:prstGeom prst="roundRect">
            <a:avLst/>
          </a:prstGeom>
          <a:solidFill>
            <a:srgbClr val="CAC5B2"/>
          </a:solidFill>
          <a:ln w="254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21212"/>
                </a:solidFill>
              </a:rPr>
              <a:t>Gate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4754880"/>
            <a:ext cx="914400" cy="731520"/>
          </a:xfrm>
          <a:prstGeom prst="roundRect">
            <a:avLst/>
          </a:prstGeom>
          <a:solidFill>
            <a:srgbClr val="CAC5B2"/>
          </a:solidFill>
          <a:ln w="254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21212"/>
                </a:solidFill>
              </a:rPr>
              <a:t>Gate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