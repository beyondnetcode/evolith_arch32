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9601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Evolith ARCH32 + UMS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13232" y="169164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3657D"/>
                </a:solidFill>
              </a:rPr>
              <a:t>Arquitectura corporativa + aplicación empresarial de referencia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0" y="1097280"/>
            <a:ext cx="1005840" cy="1005840"/>
          </a:xfrm>
          <a:prstGeom prst="chevron">
            <a:avLst/>
          </a:prstGeom>
          <a:solidFill>
            <a:srgbClr val="2DD4BF">
              <a:alpha val="85000"/>
            </a:srgbClr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424160" y="1097280"/>
            <a:ext cx="1005840" cy="1005840"/>
          </a:xfrm>
          <a:prstGeom prst="chevron">
            <a:avLst/>
          </a:prstGeom>
          <a:solidFill>
            <a:srgbClr val="2563EB">
              <a:alpha val="85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37960" y="3977640"/>
            <a:ext cx="2423160" cy="914400"/>
          </a:xfrm>
          <a:prstGeom prst="roundRect">
            <a:avLst>
              <a:gd name="adj" fmla="val 8000"/>
            </a:avLst>
          </a:prstGeom>
          <a:solidFill>
            <a:srgbClr val="EAF5FF"/>
          </a:solidFill>
          <a:ln w="12700">
            <a:solidFill>
              <a:srgbClr val="C7D2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65976" y="4087368"/>
            <a:ext cx="2167128" cy="6949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Evolith ARCH32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Framework de arquitectura, estándares, gobierno y patrones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89720" y="3977640"/>
            <a:ext cx="2423160" cy="914400"/>
          </a:xfrm>
          <a:prstGeom prst="roundRect">
            <a:avLst>
              <a:gd name="adj" fmla="val 8000"/>
            </a:avLst>
          </a:prstGeom>
          <a:solidFill>
            <a:srgbClr val="E9FBF8"/>
          </a:solidFill>
          <a:ln w="12700">
            <a:solidFill>
              <a:srgbClr val="C7D2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17736" y="4087368"/>
            <a:ext cx="2167128" cy="6949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UMS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Ejemplo real corporativo/empresarial construido sobre Evolith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961120" y="4434840"/>
            <a:ext cx="228600" cy="0"/>
          </a:xfrm>
          <a:prstGeom prst="line">
            <a:avLst/>
          </a:prstGeom>
          <a:noFill/>
          <a:ln w="12700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594360" y="651052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3657D"/>
                </a:solidFill>
              </a:rPr>
              <a:t>Evolith ARCH32 · UMS como aplicación real corporativa/empresarial de referencia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0149840" y="65105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3657D"/>
                </a:solidFill>
              </a:rPr>
              <a:t>BeyondNet Tech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Ecosistema de dos capas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12648" y="75895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3657D"/>
                </a:solidFill>
              </a:rPr>
              <a:t>Evolith define el estándar; UMS demuestra su aplicación en una solución real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94360" y="651052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3657D"/>
                </a:solidFill>
              </a:rPr>
              <a:t>Evolith ARCH32 · UMS como aplicación real corporativa/empresarial de referencia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0149840" y="65105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3657D"/>
                </a:solidFill>
              </a:rPr>
              <a:t>BeyondNet Tech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914400" y="1508760"/>
            <a:ext cx="4663440" cy="1920240"/>
          </a:xfrm>
          <a:prstGeom prst="roundRect">
            <a:avLst>
              <a:gd name="adj" fmla="val 3810"/>
            </a:avLst>
          </a:prstGeom>
          <a:solidFill>
            <a:srgbClr val="EAF5FF"/>
          </a:solidFill>
          <a:ln w="12700">
            <a:solidFill>
              <a:srgbClr val="C7D2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42416" y="1618488"/>
            <a:ext cx="4407408" cy="17007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033"/>
                </a:solidFill>
              </a:rPr>
              <a:t>Evolith ARCH32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72033"/>
                </a:solidFill>
              </a:rPr>
              <a:t>Arquitectura · ADRs · Gobierno · Patrones · Estándares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629400" y="1508760"/>
            <a:ext cx="4663440" cy="1920240"/>
          </a:xfrm>
          <a:prstGeom prst="roundRect">
            <a:avLst>
              <a:gd name="adj" fmla="val 3810"/>
            </a:avLst>
          </a:prstGeom>
          <a:solidFill>
            <a:srgbClr val="E9FBF8"/>
          </a:solidFill>
          <a:ln w="12700">
            <a:solidFill>
              <a:srgbClr val="C7D2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57416" y="1618488"/>
            <a:ext cx="4407408" cy="17007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033"/>
                </a:solidFill>
              </a:rPr>
              <a:t>UMS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72033"/>
                </a:solidFill>
              </a:rPr>
              <a:t>Aplicación corporativa/empresarial de referencia: evidencia ejecutable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623560" y="2468880"/>
            <a:ext cx="960120" cy="0"/>
          </a:xfrm>
          <a:prstGeom prst="line">
            <a:avLst/>
          </a:prstGeom>
          <a:noFill/>
          <a:ln w="12700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577840" y="2212848"/>
            <a:ext cx="685800" cy="310896"/>
          </a:xfrm>
          <a:prstGeom prst="roundRect">
            <a:avLst>
              <a:gd name="adj" fmla="val 23529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32704" y="2286000"/>
            <a:ext cx="5760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define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828800" y="4160520"/>
            <a:ext cx="8595360" cy="658368"/>
          </a:xfrm>
          <a:prstGeom prst="roundRect">
            <a:avLst>
              <a:gd name="adj" fmla="val 11111"/>
            </a:avLst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56816" y="4270248"/>
            <a:ext cx="8339328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No confundir: UMS no es todo Evolith. Es el caso aplicado que prueba el marco arquitectónico.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Por qué necesitamos ambos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12648" y="75895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3657D"/>
                </a:solidFill>
              </a:rPr>
              <a:t>Sin estándar hay dispersión; sin aplicación real no hay evidencia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94360" y="651052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3657D"/>
                </a:solidFill>
              </a:rPr>
              <a:t>Evolith ARCH32 · UMS como aplicación real corporativa/empresarial de referencia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0149840" y="65105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3657D"/>
                </a:solidFill>
              </a:rPr>
              <a:t>BeyondNet Tech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822960" y="1508760"/>
            <a:ext cx="2971800" cy="2011680"/>
          </a:xfrm>
          <a:prstGeom prst="roundRect">
            <a:avLst>
              <a:gd name="adj" fmla="val 3636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" y="1618488"/>
            <a:ext cx="2715768" cy="17922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Sin Evolith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Decisiones aisladas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Patrones duplicados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Gobierno débil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617720" y="1508760"/>
            <a:ext cx="2971800" cy="2011680"/>
          </a:xfrm>
          <a:prstGeom prst="roundRect">
            <a:avLst>
              <a:gd name="adj" fmla="val 3636"/>
            </a:avLst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45736" y="1618488"/>
            <a:ext cx="2715768" cy="17922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Sin UMS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Arquitectura teórica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Poca validación real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Difícil adopción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412480" y="1508760"/>
            <a:ext cx="2971800" cy="2011680"/>
          </a:xfrm>
          <a:prstGeom prst="roundRect">
            <a:avLst>
              <a:gd name="adj" fmla="val 3636"/>
            </a:avLst>
          </a:prstGeom>
          <a:solidFill>
            <a:srgbClr val="ECFDF5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40496" y="1618488"/>
            <a:ext cx="2715768" cy="17922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Con ambos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Estándar + evidencia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Reuso controlado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Menor riesgo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840480" y="2514600"/>
            <a:ext cx="685800" cy="0"/>
          </a:xfrm>
          <a:prstGeom prst="line">
            <a:avLst/>
          </a:prstGeom>
          <a:noFill/>
          <a:ln w="12700">
            <a:solidFill>
              <a:srgbClr val="53657D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635240" y="2514600"/>
            <a:ext cx="685800" cy="0"/>
          </a:xfrm>
          <a:prstGeom prst="line">
            <a:avLst/>
          </a:prstGeom>
          <a:noFill/>
          <a:ln w="12700">
            <a:solidFill>
              <a:srgbClr val="53657D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1280160" y="4343400"/>
            <a:ext cx="969264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500" dirty="0">
                <a:solidFill>
                  <a:srgbClr val="172033"/>
                </a:solidFill>
              </a:rPr>
              <a:t>Evolith consolida criterios reutilizables.</a:t>
            </a:r>
            <a:endParaRPr lang="en-US" sz="1500" dirty="0"/>
          </a:p>
          <a:p>
            <a:r>
              <a:rPr lang="en-US" sz="1500" dirty="0">
                <a:solidFill>
                  <a:srgbClr val="172033"/>
                </a:solidFill>
              </a:rPr>
              <a:t>UMS valida decisiones en una aplicación real.</a:t>
            </a:r>
            <a:endParaRPr lang="en-US" sz="1500" dirty="0"/>
          </a:p>
          <a:p>
            <a:r>
              <a:rPr lang="en-US" sz="1500" dirty="0">
                <a:solidFill>
                  <a:srgbClr val="172033"/>
                </a:solidFill>
              </a:rPr>
              <a:t>Las lecciones de UMS pueden promoverse a estándares.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UMS también debe ser un sistema registrado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12648" y="75895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3657D"/>
                </a:solidFill>
              </a:rPr>
              <a:t>Módulos, menús, recursos, acciones y templates nacen como seed gobernado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94360" y="651052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3657D"/>
                </a:solidFill>
              </a:rPr>
              <a:t>Evolith ARCH32 · UMS como aplicación real corporativa/empresarial de referencia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0149840" y="65105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3657D"/>
                </a:solidFill>
              </a:rPr>
              <a:t>BeyondNet Tech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77240" y="1417320"/>
            <a:ext cx="1234440" cy="685800"/>
          </a:xfrm>
          <a:prstGeom prst="roundRect">
            <a:avLst>
              <a:gd name="adj" fmla="val 10667"/>
            </a:avLst>
          </a:prstGeom>
          <a:solidFill>
            <a:srgbClr val="EAF5FF"/>
          </a:solidFill>
          <a:ln w="12700">
            <a:solidFill>
              <a:srgbClr val="C7D2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05256" y="1527048"/>
            <a:ext cx="978408" cy="4663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</a:rPr>
              <a:t>Sistema UMS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011680" y="1764792"/>
            <a:ext cx="320040" cy="0"/>
          </a:xfrm>
          <a:prstGeom prst="line">
            <a:avLst/>
          </a:prstGeom>
          <a:noFill/>
          <a:ln w="12700">
            <a:solidFill>
              <a:srgbClr val="53657D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377440" y="1417320"/>
            <a:ext cx="1234440" cy="685800"/>
          </a:xfrm>
          <a:prstGeom prst="roundRect">
            <a:avLst>
              <a:gd name="adj" fmla="val 10667"/>
            </a:avLst>
          </a:prstGeom>
          <a:solidFill>
            <a:srgbClr val="F7FAFC"/>
          </a:solidFill>
          <a:ln w="12700">
            <a:solidFill>
              <a:srgbClr val="C7D2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05456" y="1527048"/>
            <a:ext cx="978408" cy="4663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</a:rPr>
              <a:t>Módulos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11880" y="1764792"/>
            <a:ext cx="320040" cy="0"/>
          </a:xfrm>
          <a:prstGeom prst="line">
            <a:avLst/>
          </a:prstGeom>
          <a:noFill/>
          <a:ln w="12700">
            <a:solidFill>
              <a:srgbClr val="53657D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977640" y="1417320"/>
            <a:ext cx="1234440" cy="685800"/>
          </a:xfrm>
          <a:prstGeom prst="roundRect">
            <a:avLst>
              <a:gd name="adj" fmla="val 10667"/>
            </a:avLst>
          </a:prstGeom>
          <a:solidFill>
            <a:srgbClr val="F7FAFC"/>
          </a:solidFill>
          <a:ln w="12700">
            <a:solidFill>
              <a:srgbClr val="C7D2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05656" y="1527048"/>
            <a:ext cx="978408" cy="4663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</a:rPr>
              <a:t>Menús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212080" y="1764792"/>
            <a:ext cx="320040" cy="0"/>
          </a:xfrm>
          <a:prstGeom prst="line">
            <a:avLst/>
          </a:prstGeom>
          <a:noFill/>
          <a:ln w="12700">
            <a:solidFill>
              <a:srgbClr val="53657D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577840" y="1417320"/>
            <a:ext cx="1234440" cy="685800"/>
          </a:xfrm>
          <a:prstGeom prst="roundRect">
            <a:avLst>
              <a:gd name="adj" fmla="val 10667"/>
            </a:avLst>
          </a:prstGeom>
          <a:solidFill>
            <a:srgbClr val="F7FAFC"/>
          </a:solidFill>
          <a:ln w="12700">
            <a:solidFill>
              <a:srgbClr val="C7D2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05856" y="1527048"/>
            <a:ext cx="978408" cy="4663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</a:rPr>
              <a:t>Recursos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12280" y="1764792"/>
            <a:ext cx="320040" cy="0"/>
          </a:xfrm>
          <a:prstGeom prst="line">
            <a:avLst/>
          </a:prstGeom>
          <a:noFill/>
          <a:ln w="12700">
            <a:solidFill>
              <a:srgbClr val="53657D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178040" y="1417320"/>
            <a:ext cx="1234440" cy="685800"/>
          </a:xfrm>
          <a:prstGeom prst="roundRect">
            <a:avLst>
              <a:gd name="adj" fmla="val 10667"/>
            </a:avLst>
          </a:prstGeom>
          <a:solidFill>
            <a:srgbClr val="F7FAFC"/>
          </a:solidFill>
          <a:ln w="12700">
            <a:solidFill>
              <a:srgbClr val="C7D2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06056" y="1527048"/>
            <a:ext cx="978408" cy="4663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</a:rPr>
              <a:t>Acciones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412480" y="1764792"/>
            <a:ext cx="320040" cy="0"/>
          </a:xfrm>
          <a:prstGeom prst="line">
            <a:avLst/>
          </a:prstGeom>
          <a:noFill/>
          <a:ln w="12700">
            <a:solidFill>
              <a:srgbClr val="53657D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778240" y="1417320"/>
            <a:ext cx="1234440" cy="685800"/>
          </a:xfrm>
          <a:prstGeom prst="roundRect">
            <a:avLst>
              <a:gd name="adj" fmla="val 10667"/>
            </a:avLst>
          </a:prstGeom>
          <a:solidFill>
            <a:srgbClr val="F7FAFC"/>
          </a:solidFill>
          <a:ln w="12700">
            <a:solidFill>
              <a:srgbClr val="C7D2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906256" y="1527048"/>
            <a:ext cx="978408" cy="4663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</a:rPr>
              <a:t>Templates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0012680" y="1764792"/>
            <a:ext cx="320040" cy="0"/>
          </a:xfrm>
          <a:prstGeom prst="line">
            <a:avLst/>
          </a:prstGeom>
          <a:noFill/>
          <a:ln w="12700">
            <a:solidFill>
              <a:srgbClr val="53657D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10378440" y="1417320"/>
            <a:ext cx="1234440" cy="685800"/>
          </a:xfrm>
          <a:prstGeom prst="roundRect">
            <a:avLst>
              <a:gd name="adj" fmla="val 10667"/>
            </a:avLst>
          </a:prstGeom>
          <a:solidFill>
            <a:srgbClr val="F7FAFC"/>
          </a:solidFill>
          <a:ln w="12700">
            <a:solidFill>
              <a:srgbClr val="C7D2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506456" y="1527048"/>
            <a:ext cx="978408" cy="4663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</a:rPr>
              <a:t>Profiles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14400" y="2880360"/>
            <a:ext cx="4892040" cy="1143000"/>
          </a:xfrm>
          <a:prstGeom prst="roundRect">
            <a:avLst>
              <a:gd name="adj" fmla="val 6400"/>
            </a:avLst>
          </a:prstGeom>
          <a:solidFill>
            <a:srgbClr val="E9FBF8"/>
          </a:solidFill>
          <a:ln w="12700">
            <a:solidFill>
              <a:srgbClr val="C7D2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42416" y="2990088"/>
            <a:ext cx="4636008" cy="9235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Cuando un tenant se registra, puede crear o recibir perfiles para trabajar sobre UMS dentro de su propio scope.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355080" y="2880360"/>
            <a:ext cx="4892040" cy="1143000"/>
          </a:xfrm>
          <a:prstGeom prst="roundRect">
            <a:avLst>
              <a:gd name="adj" fmla="val 6400"/>
            </a:avLst>
          </a:prstGeom>
          <a:solidFill>
            <a:srgbClr val="EAF5FF"/>
          </a:solidFill>
          <a:ln w="12700">
            <a:solidFill>
              <a:srgbClr val="C7D2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83096" y="2990088"/>
            <a:ext cx="4636008" cy="9235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La navegación, visibilidad y acciones permitidas se derivan del auth graph; no deben estar hardcodeadas.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097280" y="4709160"/>
            <a:ext cx="978408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400" dirty="0">
                <a:solidFill>
                  <a:srgbClr val="172033"/>
                </a:solidFill>
              </a:rPr>
              <a:t>Seed obligatorio en mocks, BD local y producción.</a:t>
            </a:r>
            <a:endParaRPr lang="en-US" sz="1400" dirty="0"/>
          </a:p>
          <a:p>
            <a:r>
              <a:rPr lang="en-US" sz="1400" dirty="0">
                <a:solidFill>
                  <a:srgbClr val="172033"/>
                </a:solidFill>
              </a:rPr>
              <a:t>Menús y acciones controlados por roles, permisos y scopes.</a:t>
            </a:r>
            <a:endParaRPr lang="en-US" sz="1400" dirty="0"/>
          </a:p>
          <a:p>
            <a:r>
              <a:rPr lang="en-US" sz="1400" dirty="0">
                <a:solidFill>
                  <a:srgbClr val="172033"/>
                </a:solidFill>
              </a:rPr>
              <a:t>UMS sigue siendo ejemplo real de aplicación empresarial sobre Evolith.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Parametrización como fuente de comportamiento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12648" y="75895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3657D"/>
                </a:solidFill>
              </a:rPr>
              <a:t>Todo configurable se resuelve desde catálogo, valores globales y valores por tenant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94360" y="651052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3657D"/>
                </a:solidFill>
              </a:rPr>
              <a:t>Evolith ARCH32 · UMS como aplicación real corporativa/empresarial de referencia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0149840" y="65105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3657D"/>
                </a:solidFill>
              </a:rPr>
              <a:t>BeyondNet Tech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822960" y="1417320"/>
            <a:ext cx="2743200" cy="1005840"/>
          </a:xfrm>
          <a:prstGeom prst="roundRect">
            <a:avLst>
              <a:gd name="adj" fmla="val 7273"/>
            </a:avLst>
          </a:prstGeom>
          <a:solidFill>
            <a:srgbClr val="EAF5FF"/>
          </a:solidFill>
          <a:ln w="12700">
            <a:solidFill>
              <a:srgbClr val="C7D2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" y="1527048"/>
            <a:ext cx="2487168" cy="7863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</a:rPr>
              <a:t>Catálogo maestro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</a:rPr>
              <a:t>Clave · Tipo · Default · Scope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051560"/>
            <a:ext cx="2468880" cy="822960"/>
          </a:xfrm>
          <a:prstGeom prst="roundRect">
            <a:avLst>
              <a:gd name="adj" fmla="val 8889"/>
            </a:avLst>
          </a:prstGeom>
          <a:solidFill>
            <a:srgbClr val="F4F0FF"/>
          </a:solidFill>
          <a:ln w="12700">
            <a:solidFill>
              <a:srgbClr val="C7D2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91456" y="1161288"/>
            <a:ext cx="2212848" cy="6035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</a:rPr>
              <a:t>Valores globales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</a:rPr>
              <a:t>Reglas base UMS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2057400"/>
            <a:ext cx="2468880" cy="822960"/>
          </a:xfrm>
          <a:prstGeom prst="roundRect">
            <a:avLst>
              <a:gd name="adj" fmla="val 8889"/>
            </a:avLst>
          </a:prstGeom>
          <a:solidFill>
            <a:srgbClr val="E9FBF8"/>
          </a:solidFill>
          <a:ln w="12700">
            <a:solidFill>
              <a:srgbClr val="C7D2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91456" y="2167128"/>
            <a:ext cx="2212848" cy="6035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</a:rPr>
              <a:t>Valores tenant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</a:rPr>
              <a:t>Comportamiento específico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01000" y="141732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29016" y="1527048"/>
            <a:ext cx="1572768" cy="7863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</a:rPr>
              <a:t>Loader inicial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</a:rPr>
              <a:t>Carga efectiva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0241280" y="1417320"/>
            <a:ext cx="1234440" cy="1005840"/>
          </a:xfrm>
          <a:prstGeom prst="roundRect">
            <a:avLst>
              <a:gd name="adj" fmla="val 7273"/>
            </a:avLst>
          </a:prstGeom>
          <a:solidFill>
            <a:srgbClr val="F7FAFC"/>
          </a:solidFill>
          <a:ln w="12700">
            <a:solidFill>
              <a:srgbClr val="C7D2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369296" y="1527048"/>
            <a:ext cx="978408" cy="7863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Memoria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TODO Redis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566160" y="1920240"/>
            <a:ext cx="1097280" cy="-457200"/>
          </a:xfrm>
          <a:prstGeom prst="line">
            <a:avLst/>
          </a:prstGeom>
          <a:noFill/>
          <a:ln w="12700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566160" y="1920240"/>
            <a:ext cx="1097280" cy="548640"/>
          </a:xfrm>
          <a:prstGeom prst="line">
            <a:avLst/>
          </a:prstGeom>
          <a:noFill/>
          <a:ln w="12700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178040" y="1463040"/>
            <a:ext cx="822960" cy="320040"/>
          </a:xfrm>
          <a:prstGeom prst="line">
            <a:avLst/>
          </a:prstGeom>
          <a:noFill/>
          <a:ln w="12700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178040" y="2468880"/>
            <a:ext cx="822960" cy="-502920"/>
          </a:xfrm>
          <a:prstGeom prst="line">
            <a:avLst/>
          </a:prstGeom>
          <a:noFill/>
          <a:ln w="12700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829800" y="1920240"/>
            <a:ext cx="411480" cy="0"/>
          </a:xfrm>
          <a:prstGeom prst="line">
            <a:avLst/>
          </a:prstGeom>
          <a:noFill/>
          <a:ln w="12700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1097280" y="3886200"/>
            <a:ext cx="987552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500" dirty="0">
                <a:solidFill>
                  <a:srgbClr val="172033"/>
                </a:solidFill>
              </a:rPr>
              <a:t>No hardcodes en web, API ni servicios.</a:t>
            </a:r>
            <a:endParaRPr lang="en-US" sz="1500" dirty="0"/>
          </a:p>
          <a:p>
            <a:r>
              <a:rPr lang="en-US" sz="1500" dirty="0">
                <a:solidFill>
                  <a:srgbClr val="172033"/>
                </a:solidFill>
              </a:rPr>
              <a:t>Todos los tenants resuelven todos los parámetros aplicables.</a:t>
            </a:r>
            <a:endParaRPr lang="en-US" sz="1500" dirty="0"/>
          </a:p>
          <a:p>
            <a:r>
              <a:rPr lang="en-US" sz="1500" dirty="0">
                <a:solidFill>
                  <a:srgbClr val="172033"/>
                </a:solidFill>
              </a:rPr>
              <a:t>Data mocks, BD local y producción deben funcionar igual.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Auth Graph: salida clave de UMS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12648" y="75895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3657D"/>
                </a:solidFill>
              </a:rPr>
              <a:t>El cliente recibe un grafo listo para autenticación, autorización y navegación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94360" y="651052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3657D"/>
                </a:solidFill>
              </a:rPr>
              <a:t>Evolith ARCH32 · UMS como aplicación real corporativa/empresarial de referencia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0149840" y="65105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3657D"/>
                </a:solidFill>
              </a:rPr>
              <a:t>BeyondNet Tech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31520" y="123444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EAF5FF"/>
          </a:solidFill>
          <a:ln w="12700">
            <a:solidFill>
              <a:srgbClr val="C7D2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9536" y="1344168"/>
            <a:ext cx="1938528" cy="6949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API pública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cliente + credenciales + tenant code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0" y="123444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85616" y="1344168"/>
            <a:ext cx="1938528" cy="6949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Resolver método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Local o IDP por parámetros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583680" y="123444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E9FBF8"/>
          </a:solidFill>
          <a:ln w="12700">
            <a:solidFill>
              <a:srgbClr val="C7D2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11696" y="1344168"/>
            <a:ext cx="1572768" cy="6949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Autenticar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flujo correspondiente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44000" y="123444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F4F0FF"/>
          </a:solidFill>
          <a:ln w="12700">
            <a:solidFill>
              <a:srgbClr val="C7D2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72016" y="1344168"/>
            <a:ext cx="2029968" cy="6949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Generar grafo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profile + permisos + scopes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926080" y="1691640"/>
            <a:ext cx="731520" cy="0"/>
          </a:xfrm>
          <a:prstGeom prst="line">
            <a:avLst/>
          </a:prstGeom>
          <a:noFill/>
          <a:ln w="12700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852160" y="1691640"/>
            <a:ext cx="731520" cy="0"/>
          </a:xfrm>
          <a:prstGeom prst="line">
            <a:avLst/>
          </a:prstGeom>
          <a:noFill/>
          <a:ln w="12700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412480" y="1691640"/>
            <a:ext cx="731520" cy="0"/>
          </a:xfrm>
          <a:prstGeom prst="line">
            <a:avLst/>
          </a:prstGeom>
          <a:noFill/>
          <a:ln w="12700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005840" y="3017520"/>
            <a:ext cx="9966960" cy="777240"/>
          </a:xfrm>
          <a:prstGeom prst="roundRect">
            <a:avLst>
              <a:gd name="adj" fmla="val 9412"/>
            </a:avLst>
          </a:prstGeom>
          <a:solidFill>
            <a:srgbClr val="F7FAFC"/>
          </a:solidFill>
          <a:ln w="12700">
            <a:solidFill>
              <a:srgbClr val="C7D2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33856" y="3127248"/>
            <a:ext cx="9710928" cy="5577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033"/>
                </a:solidFill>
              </a:rPr>
              <a:t>El grafo incluye usuario, tenant, roles, permisos, scopes, menús, recursos, acciones, restricciones y parámetros efectivos.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28800" y="4434840"/>
            <a:ext cx="8321040" cy="658368"/>
          </a:xfrm>
          <a:prstGeom prst="roundRect">
            <a:avLst>
              <a:gd name="adj" fmla="val 11111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956816" y="4544568"/>
            <a:ext cx="8065008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Seguridad: no exponer secretos, llaves IDP, credenciales ni configuración sensible.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UI/UX común en React + Material Design 3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12648" y="75895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3657D"/>
                </a:solidFill>
              </a:rPr>
              <a:t>Un patrón visual claro, minimalista y mantenible para todas las vistas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94360" y="651052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3657D"/>
                </a:solidFill>
              </a:rPr>
              <a:t>Evolith ARCH32 · UMS como aplicación real corporativa/empresarial de referencia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0149840" y="65105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3657D"/>
                </a:solidFill>
              </a:rPr>
              <a:t>BeyondNet Tech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914400" y="1234440"/>
            <a:ext cx="502920" cy="50292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37617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554480" y="1143000"/>
            <a:ext cx="2834640" cy="685800"/>
          </a:xfrm>
          <a:prstGeom prst="roundRect">
            <a:avLst>
              <a:gd name="adj" fmla="val 10667"/>
            </a:avLst>
          </a:prstGeom>
          <a:solidFill>
            <a:srgbClr val="F7FAFC"/>
          </a:solidFill>
          <a:ln w="12700">
            <a:solidFill>
              <a:srgbClr val="C7D2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82496" y="1252728"/>
            <a:ext cx="2578608" cy="4663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Detectar patrón actual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componentes, layouts, estilos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0" y="1234440"/>
            <a:ext cx="502920" cy="5029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137617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212080" y="1143000"/>
            <a:ext cx="2834640" cy="685800"/>
          </a:xfrm>
          <a:prstGeom prst="roundRect">
            <a:avLst>
              <a:gd name="adj" fmla="val 10667"/>
            </a:avLst>
          </a:prstGeom>
          <a:solidFill>
            <a:srgbClr val="F7FAFC"/>
          </a:solidFill>
          <a:ln w="12700">
            <a:solidFill>
              <a:srgbClr val="C7D2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40096" y="1252728"/>
            <a:ext cx="2578608" cy="4663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Estandarizar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tokens, tema, espaciados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0" y="1234440"/>
            <a:ext cx="502920" cy="50292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75320" y="137617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869680" y="1143000"/>
            <a:ext cx="2651760" cy="685800"/>
          </a:xfrm>
          <a:prstGeom prst="roundRect">
            <a:avLst>
              <a:gd name="adj" fmla="val 10667"/>
            </a:avLst>
          </a:prstGeom>
          <a:solidFill>
            <a:srgbClr val="F7FAFC"/>
          </a:solidFill>
          <a:ln w="12700">
            <a:solidFill>
              <a:srgbClr val="C7D2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97696" y="1252728"/>
            <a:ext cx="2395728" cy="4663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Componentizar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headers, tablas, forms, diálogos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97280" y="2926080"/>
            <a:ext cx="987552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500" dirty="0">
                <a:solidFill>
                  <a:srgbClr val="172033"/>
                </a:solidFill>
              </a:rPr>
              <a:t>Diseño sobrio: limpio, profesional e intuitivo.</a:t>
            </a:r>
            <a:endParaRPr lang="en-US" sz="1500" dirty="0"/>
          </a:p>
          <a:p>
            <a:r>
              <a:rPr lang="en-US" sz="1500" dirty="0">
                <a:solidFill>
                  <a:srgbClr val="172033"/>
                </a:solidFill>
              </a:rPr>
              <a:t>Acciones claras; estados vacíos, loading y error consistentes.</a:t>
            </a:r>
            <a:endParaRPr lang="en-US" sz="1500" dirty="0"/>
          </a:p>
          <a:p>
            <a:r>
              <a:rPr lang="en-US" sz="1500" dirty="0">
                <a:solidFill>
                  <a:srgbClr val="172033"/>
                </a:solidFill>
              </a:rPr>
              <a:t>No crear estilos aislados por vista.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828800" y="4892040"/>
            <a:ext cx="8321040" cy="594360"/>
          </a:xfrm>
          <a:prstGeom prst="roundRect">
            <a:avLst>
              <a:gd name="adj" fmla="val 12308"/>
            </a:avLst>
          </a:prstGeom>
          <a:solidFill>
            <a:srgbClr val="EAF5FF"/>
          </a:solidFill>
          <a:ln w="12700">
            <a:solidFill>
              <a:srgbClr val="C7D2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956816" y="5001768"/>
            <a:ext cx="806500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Resultado: todas las pantallas se sienten parte de un mismo producto empresarial.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Licencia dual y propiedad intelectual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12648" y="75895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3657D"/>
                </a:solidFill>
              </a:rPr>
              <a:t>Open source con atribución; uso comercial bajo autorización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94360" y="651052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3657D"/>
                </a:solidFill>
              </a:rPr>
              <a:t>Evolith ARCH32 · UMS como aplicación real corporativa/empresarial de referencia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0149840" y="65105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3657D"/>
                </a:solidFill>
              </a:rPr>
              <a:t>BeyondNet Tech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914400" y="1325880"/>
            <a:ext cx="4480560" cy="1600200"/>
          </a:xfrm>
          <a:prstGeom prst="roundRect">
            <a:avLst>
              <a:gd name="adj" fmla="val 4571"/>
            </a:avLst>
          </a:prstGeom>
          <a:solidFill>
            <a:srgbClr val="EAF5FF"/>
          </a:solidFill>
          <a:ln w="12700">
            <a:solidFill>
              <a:srgbClr val="C7D2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42416" y="1435608"/>
            <a:ext cx="4224528" cy="1380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Open Source Community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Base sugerida: Apache 2.0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Preserva copyright, licencia, NOTICE y atribución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0" y="1325880"/>
            <a:ext cx="4480560" cy="1600200"/>
          </a:xfrm>
          <a:prstGeom prst="roundRect">
            <a:avLst>
              <a:gd name="adj" fmla="val 4571"/>
            </a:avLst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28816" y="1435608"/>
            <a:ext cx="4224528" cy="1380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Commercial / Proprietary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SaaS, empresa, consultoría, derivados o productos requieren autorización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417320" y="3886200"/>
            <a:ext cx="9326880" cy="960120"/>
          </a:xfrm>
          <a:prstGeom prst="roundRect">
            <a:avLst>
              <a:gd name="adj" fmla="val 7619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45336" y="3995928"/>
            <a:ext cx="9070848" cy="7406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Protección central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Evolith, UMS, ADRs, workbooks, diagramas, templates, seeds, auth graph y aplicaciones hijas son activos de BeyondNet Tech.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Roadmap de adecuación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12648" y="75895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3657D"/>
                </a:solidFill>
              </a:rPr>
              <a:t>Adecuar, no rediseñar: cerrar GAPS y elevar evidencia a estándar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94360" y="651052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3657D"/>
                </a:solidFill>
              </a:rPr>
              <a:t>Evolith ARCH32 · UMS como aplicación real corporativa/empresarial de referencia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0149840" y="65105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3657D"/>
                </a:solidFill>
              </a:rPr>
              <a:t>BeyondNet Tech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822960" y="1325880"/>
            <a:ext cx="2834640" cy="1234440"/>
          </a:xfrm>
          <a:prstGeom prst="roundRect">
            <a:avLst>
              <a:gd name="adj" fmla="val 5926"/>
            </a:avLst>
          </a:prstGeom>
          <a:solidFill>
            <a:srgbClr val="EAF5FF"/>
          </a:solidFill>
          <a:ln w="12700">
            <a:solidFill>
              <a:srgbClr val="C7D2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" y="1435608"/>
            <a:ext cx="2578608" cy="10149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</a:rPr>
              <a:t>1 · GAPS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</a:rPr>
              <a:t>Modelos · Seeds · Mocks · Docs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17720" y="1325880"/>
            <a:ext cx="2834640" cy="1234440"/>
          </a:xfrm>
          <a:prstGeom prst="roundRect">
            <a:avLst>
              <a:gd name="adj" fmla="val 5926"/>
            </a:avLst>
          </a:prstGeom>
          <a:solidFill>
            <a:srgbClr val="E9FBF8"/>
          </a:solidFill>
          <a:ln w="12700">
            <a:solidFill>
              <a:srgbClr val="C7D2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45736" y="1435608"/>
            <a:ext cx="2578608" cy="10149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</a:rPr>
              <a:t>2 · Adecuación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</a:rPr>
              <a:t>Parametrización · Auth graph · UI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412480" y="1325880"/>
            <a:ext cx="2834640" cy="1234440"/>
          </a:xfrm>
          <a:prstGeom prst="roundRect">
            <a:avLst>
              <a:gd name="adj" fmla="val 5926"/>
            </a:avLst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40496" y="1435608"/>
            <a:ext cx="2578608" cy="10149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</a:rPr>
              <a:t>3 · Gobierno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</a:rPr>
              <a:t>ADR · workbook · PPT · licencia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703320" y="1920240"/>
            <a:ext cx="868680" cy="0"/>
          </a:xfrm>
          <a:prstGeom prst="line">
            <a:avLst/>
          </a:prstGeom>
          <a:noFill/>
          <a:ln w="12700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498080" y="1920240"/>
            <a:ext cx="868680" cy="0"/>
          </a:xfrm>
          <a:prstGeom prst="line">
            <a:avLst/>
          </a:prstGeom>
          <a:noFill/>
          <a:ln w="12700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1051560" y="3703320"/>
            <a:ext cx="996696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500" dirty="0">
                <a:solidFill>
                  <a:srgbClr val="172033"/>
                </a:solidFill>
              </a:rPr>
              <a:t>Mantener consistencia entre inglés y español.</a:t>
            </a:r>
            <a:endParaRPr lang="en-US" sz="1500" dirty="0"/>
          </a:p>
          <a:p>
            <a:r>
              <a:rPr lang="en-US" sz="1500" dirty="0">
                <a:solidFill>
                  <a:srgbClr val="172033"/>
                </a:solidFill>
              </a:rPr>
              <a:t>Actualizar índices y documentación relacionada.</a:t>
            </a:r>
            <a:endParaRPr lang="en-US" sz="1500" dirty="0"/>
          </a:p>
          <a:p>
            <a:r>
              <a:rPr lang="en-US" sz="1500" dirty="0">
                <a:solidFill>
                  <a:srgbClr val="172033"/>
                </a:solidFill>
              </a:rPr>
              <a:t>Validar con pruebas unitarias y E2E.</a:t>
            </a:r>
            <a:endParaRPr lang="en-US" sz="1500" dirty="0"/>
          </a:p>
          <a:p>
            <a:r>
              <a:rPr lang="en-US" sz="1500" dirty="0">
                <a:solidFill>
                  <a:srgbClr val="172033"/>
                </a:solidFill>
              </a:rPr>
              <a:t>Recordatorio: UMS es el ejemplo real empresarial; Evolith es el marco reutilizable.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BeyondNet Tech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Evolith ARCH32 + UMS Executive Brief</dc:title>
  <dc:subject>Evolith ARCH32 + UMS executive deck</dc:subject>
  <dc:creator>BeyondNet Tech</dc:creator>
  <cp:lastModifiedBy>BeyondNet Tech</cp:lastModifiedBy>
  <cp:revision>1</cp:revision>
  <dcterms:created xsi:type="dcterms:W3CDTF">2026-06-02T16:45:08Z</dcterms:created>
  <dcterms:modified xsi:type="dcterms:W3CDTF">2026-06-02T16:45:08Z</dcterms:modified>
</cp:coreProperties>
</file>