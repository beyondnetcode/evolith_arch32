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b="1" sz="4400">
                <a:solidFill>
                  <a:srgbClr val="FFFFFF"/>
                </a:solidFill>
              </a:defRPr>
            </a:pPr>
            <a:r>
              <a:t>Caso UMS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3B82F6"/>
                </a:solidFill>
              </a:defRPr>
            </a:pPr>
            <a:r>
              <a:t>Aplicación de Referencia sobre Evolith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1. ¿Qué es UMS?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114800" cy="0"/>
          </a:xfrm>
        </p:spPr>
        <p:txBody>
          <a:bodyPr/>
          <a:lstStyle/>
          <a:p>
            <a:pPr>
              <a:defRPr sz="2000"/>
            </a:pPr>
            <a:r>
              <a:t>User Management System: Una aplicación real corporativa.</a:t>
            </a:r>
          </a:p>
          <a:p>
            <a:pPr>
              <a:spcBef>
                <a:spcPts val="1000"/>
              </a:spcBef>
              <a:defRPr sz="2000"/>
            </a:pPr>
            <a:r>
              <a:t>No es la totalidad de Evolith, es un ejemplo de implementación.</a:t>
            </a:r>
          </a:p>
          <a:p>
            <a:pPr>
              <a:spcBef>
                <a:spcPts val="1000"/>
              </a:spcBef>
              <a:defRPr sz="2000"/>
            </a:pPr>
            <a:r>
              <a:t>Demuestra cómo aplicar Evolith en un sistema empresarial real.</a:t>
            </a:r>
          </a:p>
          <a:p>
            <a:pPr>
              <a:spcBef>
                <a:spcPts val="1000"/>
              </a:spcBef>
              <a:defRPr sz="2000"/>
            </a:pPr>
            <a:r>
              <a:t>Sirve como modelo a seguir para futuros sistemas satélite.</a:t>
            </a:r>
          </a:p>
        </p:txBody>
      </p:sp>
      <p:pic>
        <p:nvPicPr>
          <p:cNvPr id="4" name="Picture 3" descr="visual_1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-695946"/>
            <a:ext cx="4114800" cy="91642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2. ¿Por qué usar UMS como referencia?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114800" cy="0"/>
          </a:xfrm>
        </p:spPr>
        <p:txBody>
          <a:bodyPr/>
          <a:lstStyle/>
          <a:p>
            <a:pPr>
              <a:defRPr sz="2000"/>
            </a:pPr>
            <a:r>
              <a:t>Tangibiliza los conceptos abstractos de Evolith.</a:t>
            </a:r>
          </a:p>
          <a:p>
            <a:pPr>
              <a:spcBef>
                <a:spcPts val="1000"/>
              </a:spcBef>
              <a:defRPr sz="2000"/>
            </a:pPr>
            <a:r>
              <a:t>Muestra una estructura de proyecto, dominios y bounded contexts real.</a:t>
            </a:r>
          </a:p>
          <a:p>
            <a:pPr>
              <a:spcBef>
                <a:spcPts val="1000"/>
              </a:spcBef>
              <a:defRPr sz="2000"/>
            </a:pPr>
            <a:r>
              <a:t>Proporciona ejemplos de código, pruebas y pipelines que funcionan.</a:t>
            </a:r>
          </a:p>
          <a:p>
            <a:pPr>
              <a:spcBef>
                <a:spcPts val="1000"/>
              </a:spcBef>
              <a:defRPr sz="2000"/>
            </a:pPr>
            <a:r>
              <a:t>Reduce la curva de aprendizaje de los nuevos equipos.</a:t>
            </a:r>
          </a:p>
        </p:txBody>
      </p:sp>
      <p:pic>
        <p:nvPicPr>
          <p:cNvPr id="4" name="Picture 3" descr="visual_1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098929"/>
            <a:ext cx="4114800" cy="157454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3. Diseño Guiado por Evolith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Organización modular enfocada en Bounded Contexts.</a:t>
            </a:r>
          </a:p>
          <a:p>
            <a:pPr>
              <a:spcBef>
                <a:spcPts val="1000"/>
              </a:spcBef>
              <a:defRPr sz="2000"/>
            </a:pPr>
            <a:r>
              <a:t>Arquitectura en capas / Hexagonal adaptada.</a:t>
            </a:r>
          </a:p>
          <a:p>
            <a:pPr>
              <a:spcBef>
                <a:spcPts val="1000"/>
              </a:spcBef>
              <a:defRPr sz="2000"/>
            </a:pPr>
            <a:r>
              <a:t>Manejo consistente de configuraciones y secretos.</a:t>
            </a:r>
          </a:p>
          <a:p>
            <a:pPr>
              <a:spcBef>
                <a:spcPts val="1000"/>
              </a:spcBef>
              <a:defRPr sz="2000"/>
            </a:pPr>
            <a:r>
              <a:t>Separación clara entre capa de red (API) y lógica de dominio.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4. Implementación y Patrones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Gestión de Permisos: Auth Graph y control de acceso.</a:t>
            </a:r>
          </a:p>
          <a:p>
            <a:pPr>
              <a:spcBef>
                <a:spcPts val="1000"/>
              </a:spcBef>
              <a:defRPr sz="2000"/>
            </a:pPr>
            <a:r>
              <a:t>Perfiles y Roles: Modelado claro de la identidad corporativa.</a:t>
            </a:r>
          </a:p>
          <a:p>
            <a:pPr>
              <a:spcBef>
                <a:spcPts val="1000"/>
              </a:spcBef>
              <a:defRPr sz="2000"/>
            </a:pPr>
            <a:r>
              <a:t>Multi-tenancy: Preparación para múltiples inquilinos de manera segura.</a:t>
            </a:r>
          </a:p>
          <a:p>
            <a:pPr>
              <a:spcBef>
                <a:spcPts val="1000"/>
              </a:spcBef>
              <a:defRPr sz="2000"/>
            </a:pPr>
            <a:r>
              <a:t>Parametrización dinámica sin redespliegues complejos.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5. Trazabilidad en UMS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PRDs mapeados a funcionalidades concretas de UMS.</a:t>
            </a:r>
          </a:p>
          <a:p>
            <a:pPr>
              <a:spcBef>
                <a:spcPts val="1000"/>
              </a:spcBef>
              <a:defRPr sz="2000"/>
            </a:pPr>
            <a:r>
              <a:t>ADRs documentando cada decisión de diseño del sistema.</a:t>
            </a:r>
          </a:p>
          <a:p>
            <a:pPr>
              <a:spcBef>
                <a:spcPts val="1000"/>
              </a:spcBef>
              <a:defRPr sz="2000"/>
            </a:pPr>
            <a:r>
              <a:t>Historias y commits enlazados a requerimientos de negocio.</a:t>
            </a:r>
          </a:p>
          <a:p>
            <a:pPr>
              <a:spcBef>
                <a:spcPts val="1000"/>
              </a:spcBef>
              <a:defRPr sz="2000"/>
            </a:pPr>
            <a:r>
              <a:t>Quality Gates validados mediante Test Summary Reports reales.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6. Aprendizaje y Retroalimentación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Lecciones de UMS alimentan de vuelta los estándares de Evolith.</a:t>
            </a:r>
          </a:p>
          <a:p>
            <a:pPr>
              <a:spcBef>
                <a:spcPts val="1000"/>
              </a:spcBef>
              <a:defRPr sz="2000"/>
            </a:pPr>
            <a:r>
              <a:t>Identificación de fricciones en el SDLC corporativo.</a:t>
            </a:r>
          </a:p>
          <a:p>
            <a:pPr>
              <a:spcBef>
                <a:spcPts val="1000"/>
              </a:spcBef>
              <a:defRPr sz="2000"/>
            </a:pPr>
            <a:r>
              <a:t>Descubrimiento de nuevos patrones reutilizables (ej. Auth).</a:t>
            </a:r>
          </a:p>
          <a:p>
            <a:pPr>
              <a:spcBef>
                <a:spcPts val="1000"/>
              </a:spcBef>
              <a:defRPr sz="2000"/>
            </a:pPr>
            <a:r>
              <a:t>Evolución continua de las plantillas basadas en uso empírico.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b="1" sz="3600">
                <a:solidFill>
                  <a:srgbClr val="1E3A5F"/>
                </a:solidFill>
              </a:defRPr>
            </a:pPr>
            <a:r>
              <a:t>7. Valor para Futuras Aplicaciones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Plantilla de inicio rápida (Bootstrapping).</a:t>
            </a:r>
          </a:p>
          <a:p>
            <a:pPr>
              <a:spcBef>
                <a:spcPts val="1000"/>
              </a:spcBef>
              <a:defRPr sz="2000"/>
            </a:pPr>
            <a:r>
              <a:t>Menos decisiones técnicas que tomar (decisiones ya tomadas en ADRs).</a:t>
            </a:r>
          </a:p>
          <a:p>
            <a:pPr>
              <a:spcBef>
                <a:spcPts val="1000"/>
              </a:spcBef>
              <a:defRPr sz="2000"/>
            </a:pPr>
            <a:r>
              <a:t>Framework SDLC pre-configurado (Pipelines, Linting, Testing).</a:t>
            </a:r>
          </a:p>
          <a:p>
            <a:pPr>
              <a:spcBef>
                <a:spcPts val="1000"/>
              </a:spcBef>
              <a:defRPr sz="2000"/>
            </a:pPr>
            <a:r>
              <a:t>Mayor enfoque en el valor de negocio, menor esfuerzo en andamiaje.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