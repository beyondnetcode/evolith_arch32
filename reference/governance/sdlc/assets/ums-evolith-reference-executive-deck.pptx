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FFFFFF"/>
                </a:solidFill>
              </a:defRPr>
            </a:pPr>
            <a:r>
              <a:t>Caso UMS sobre Evolith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3B82F6"/>
                </a:solidFill>
              </a:defRPr>
            </a:pPr>
            <a:r>
              <a:t>Aplicación Empresarial de Referencia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1. ¿Qué es UMS?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User Management System corporativo.</a:t>
            </a:r>
          </a:p>
          <a:p>
            <a:pPr>
              <a:spcBef>
                <a:spcPts val="800"/>
              </a:spcBef>
              <a:defRPr sz="1800"/>
            </a:pPr>
            <a:r>
              <a:t>Instanciación real de las reglas de Evolith.</a:t>
            </a:r>
          </a:p>
          <a:p>
            <a:pPr>
              <a:spcBef>
                <a:spcPts val="800"/>
              </a:spcBef>
              <a:defRPr sz="1800"/>
            </a:pPr>
            <a:r>
              <a:t>Demuestra viabilidad técnica.</a:t>
            </a:r>
          </a:p>
        </p:txBody>
      </p:sp>
      <p:pic>
        <p:nvPicPr>
          <p:cNvPr id="4" name="Picture 3" descr="ppt2_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046444"/>
            <a:ext cx="4572000" cy="16795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2. Propósito como Referencia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Tangibiliza conceptos abstractos.</a:t>
            </a:r>
          </a:p>
          <a:p>
            <a:pPr>
              <a:spcBef>
                <a:spcPts val="800"/>
              </a:spcBef>
              <a:defRPr sz="1800"/>
            </a:pPr>
            <a:r>
              <a:t>Proporciona código base, pipelines y pruebas reales.</a:t>
            </a:r>
          </a:p>
          <a:p>
            <a:pPr>
              <a:spcBef>
                <a:spcPts val="800"/>
              </a:spcBef>
              <a:defRPr sz="1800"/>
            </a:pPr>
            <a:r>
              <a:t>Sirve de acelerador (plantilla).</a:t>
            </a:r>
          </a:p>
        </p:txBody>
      </p:sp>
      <p:pic>
        <p:nvPicPr>
          <p:cNvPr id="4" name="Picture 3" descr="ppt2_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641271"/>
            <a:ext cx="4572000" cy="4898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3. Arquitectura Evolith en UMS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Implementación modular (Bounded Contexts).</a:t>
            </a:r>
          </a:p>
          <a:p>
            <a:pPr>
              <a:spcBef>
                <a:spcPts val="800"/>
              </a:spcBef>
              <a:defRPr sz="1800"/>
            </a:pPr>
            <a:r>
              <a:t>Adaptación de Arquitectura Hexagonal.</a:t>
            </a:r>
          </a:p>
          <a:p>
            <a:pPr>
              <a:spcBef>
                <a:spcPts val="800"/>
              </a:spcBef>
              <a:defRPr sz="1800"/>
            </a:pPr>
            <a:r>
              <a:t>Aislamiento de la lógica de dominio.</a:t>
            </a:r>
          </a:p>
        </p:txBody>
      </p:sp>
      <p:pic>
        <p:nvPicPr>
          <p:cNvPr id="4" name="Picture 3" descr="ppt2_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004240"/>
            <a:ext cx="4572000" cy="1763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4. Patrones Aplicados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Resolución formal de Autenticación y Autorización.</a:t>
            </a:r>
          </a:p>
          <a:p>
            <a:pPr>
              <a:spcBef>
                <a:spcPts val="800"/>
              </a:spcBef>
              <a:defRPr sz="1800"/>
            </a:pPr>
            <a:r>
              <a:t>Manejo avanzado de Auth Graph corporativo.</a:t>
            </a:r>
          </a:p>
          <a:p>
            <a:pPr>
              <a:spcBef>
                <a:spcPts val="800"/>
              </a:spcBef>
              <a:defRPr sz="1800"/>
            </a:pPr>
            <a:r>
              <a:t>Parametrización dinámica.</a:t>
            </a:r>
          </a:p>
        </p:txBody>
      </p:sp>
      <p:pic>
        <p:nvPicPr>
          <p:cNvPr id="4" name="Picture 3" descr="ppt2_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390511"/>
            <a:ext cx="4572000" cy="9913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5. Trazabilidad en la Práctica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Muestra cómo atar un requerimiento de PRD hasta el código.</a:t>
            </a:r>
          </a:p>
          <a:p>
            <a:pPr>
              <a:spcBef>
                <a:spcPts val="800"/>
              </a:spcBef>
              <a:defRPr sz="1800"/>
            </a:pPr>
            <a:r>
              <a:t>Historias referenciando ADRs.</a:t>
            </a:r>
          </a:p>
          <a:p>
            <a:pPr>
              <a:spcBef>
                <a:spcPts val="800"/>
              </a:spcBef>
              <a:defRPr sz="1800"/>
            </a:pPr>
            <a:r>
              <a:t>Evidencia viva.</a:t>
            </a:r>
          </a:p>
        </p:txBody>
      </p:sp>
      <p:pic>
        <p:nvPicPr>
          <p:cNvPr id="4" name="Picture 3" descr="ppt2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702503"/>
            <a:ext cx="4572000" cy="3673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6. El Ciclo de Retroalimentación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Los aprendizajes en UMS se promueven.</a:t>
            </a:r>
          </a:p>
          <a:p>
            <a:pPr>
              <a:spcBef>
                <a:spcPts val="800"/>
              </a:spcBef>
              <a:defRPr sz="1800"/>
            </a:pPr>
            <a:r>
              <a:t>Las mejoras técnicas locales suben a Evolith como estándares corporativos.</a:t>
            </a:r>
          </a:p>
        </p:txBody>
      </p:sp>
      <p:pic>
        <p:nvPicPr>
          <p:cNvPr id="4" name="Picture 3" descr="ppt2_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466016"/>
            <a:ext cx="4572000" cy="8403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A5F"/>
                </a:solidFill>
              </a:defRPr>
            </a:pPr>
            <a:r>
              <a:t>7. Adopción para el Futuro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3840480" cy="0"/>
          </a:xfrm>
        </p:spPr>
        <p:txBody>
          <a:bodyPr/>
          <a:lstStyle/>
          <a:p>
            <a:pPr>
              <a:defRPr sz="1800"/>
            </a:pPr>
            <a:r>
              <a:t>Start rápido para nuevos equipos.</a:t>
            </a:r>
          </a:p>
          <a:p>
            <a:pPr>
              <a:spcBef>
                <a:spcPts val="800"/>
              </a:spcBef>
              <a:defRPr sz="1800"/>
            </a:pPr>
            <a:r>
              <a:t>Menos fricción de andamiaje.</a:t>
            </a:r>
          </a:p>
          <a:p>
            <a:pPr>
              <a:spcBef>
                <a:spcPts val="800"/>
              </a:spcBef>
              <a:defRPr sz="1800"/>
            </a:pPr>
            <a:r>
              <a:t>Mayor tiempo enfocado en valor de negocio.</a:t>
            </a:r>
          </a:p>
        </p:txBody>
      </p:sp>
      <p:pic>
        <p:nvPicPr>
          <p:cNvPr id="4" name="Picture 3" descr="ppt2_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40280"/>
            <a:ext cx="4572000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