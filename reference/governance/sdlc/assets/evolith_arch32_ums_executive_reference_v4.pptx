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355080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28232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Evolith ARCH32 · UMS como aplicación empresarial de referencia · SDLC gobernado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55680" y="6428232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v4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613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613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914400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Evolith ARCH32 + UMS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334155"/>
                </a:solidFill>
              </a:rPr>
              <a:t>Cómo implementar un SDLC gobernado usando una arquitectura corporativa base y una aplicación empresarial real de referencia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22960" y="2578608"/>
            <a:ext cx="4023360" cy="292608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1D4ED8">
                <a:alpha val="9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642616"/>
            <a:ext cx="3877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D4ED8"/>
                </a:solidFill>
              </a:rPr>
              <a:t>Evolith = reglas, estándares, gobierno y patrones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074920" y="2578608"/>
            <a:ext cx="4480560" cy="292608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 w="12700">
            <a:solidFill>
              <a:srgbClr val="15803D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48072" y="2642616"/>
            <a:ext cx="4334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5803D"/>
                </a:solidFill>
              </a:rPr>
              <a:t>UMS = aplicación real que demuestra la arquitectura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2880360" y="3017520"/>
            <a:ext cx="5120640" cy="292608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 w="12700">
            <a:solidFill>
              <a:srgbClr val="7C3AED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3081528"/>
            <a:ext cx="4974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7C3AED"/>
                </a:solidFill>
              </a:rPr>
              <a:t>SDLC = estrategia para implementar con evidencia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777240" y="3977640"/>
            <a:ext cx="2331720" cy="65836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4096512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4ED8"/>
                </a:solidFill>
              </a:rPr>
              <a:t>Arquitectura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D4ED8"/>
                </a:solidFill>
              </a:rPr>
              <a:t>Base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337560" y="3977640"/>
            <a:ext cx="2331720" cy="65836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56432" y="4096512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</a:rPr>
              <a:t>SDLC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</a:rPr>
              <a:t>Gobernado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897880" y="3977640"/>
            <a:ext cx="2331720" cy="658368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16752" y="4096512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803D"/>
                </a:solidFill>
              </a:rPr>
              <a:t>UMS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5803D"/>
                </a:solidFill>
              </a:rPr>
              <a:t>Referencia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458200" y="3977640"/>
            <a:ext cx="2423160" cy="65836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77072" y="4050792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Reuso en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Nuevos Sistemas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5074920"/>
            <a:ext cx="10287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Mensaje clave: UMS no es todo Evolith. Es el caso aplicado que prueba cómo Evolith se implementa en una aplicación empresarial real.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613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El problema: crecer sin una arquitectura gobernada genera riesgo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La conversación ejecutiva no es sobre “más documentos”, sino sobre control, trazabilidad y decisiones confiables.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3291840" cy="2834640"/>
          </a:xfrm>
          <a:prstGeom prst="roundRect">
            <a:avLst>
              <a:gd name="adj" fmla="val 3871"/>
            </a:avLst>
          </a:prstGeom>
          <a:solidFill>
            <a:srgbClr val="FEE2E2"/>
          </a:solidFill>
          <a:ln w="13970">
            <a:solidFill>
              <a:srgbClr val="B91C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1490472"/>
            <a:ext cx="2889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91C1C"/>
                </a:solidFill>
              </a:rPr>
              <a:t>Sin baseline común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86968" y="1801368"/>
            <a:ext cx="2889504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Cada equipo interpreta arquitectura, seguridad, testing y documentación de forma distinta.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Resultado: deuda técnica, retrabajo y poca reutilización.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34840" y="1325880"/>
            <a:ext cx="3291840" cy="2834640"/>
          </a:xfrm>
          <a:prstGeom prst="roundRect">
            <a:avLst>
              <a:gd name="adj" fmla="val 3871"/>
            </a:avLst>
          </a:prstGeom>
          <a:solidFill>
            <a:srgbClr val="FEF3C7"/>
          </a:solidFill>
          <a:ln w="1397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36008" y="1490472"/>
            <a:ext cx="2889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7706"/>
                </a:solidFill>
              </a:rPr>
              <a:t>Sin evidencia de delivery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636008" y="1801368"/>
            <a:ext cx="2889504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Las decisiones de avance dependen de reuniones y percepción.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Resultado: releases con riesgo oculto y poca trazabilidad.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183880" y="1325880"/>
            <a:ext cx="3291840" cy="2834640"/>
          </a:xfrm>
          <a:prstGeom prst="roundRect">
            <a:avLst>
              <a:gd name="adj" fmla="val 3871"/>
            </a:avLst>
          </a:prstGeom>
          <a:solidFill>
            <a:srgbClr val="EDE9FE"/>
          </a:solidFill>
          <a:ln w="1397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85048" y="1490472"/>
            <a:ext cx="2889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C3AED"/>
                </a:solidFill>
              </a:rPr>
              <a:t>Sin caso aplicado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385048" y="1801368"/>
            <a:ext cx="2889504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Las reglas arquitectónicas quedan teóricas si no se validan en software real.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Resultado: estándares difíciles de adoptar.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143000" y="4800600"/>
            <a:ext cx="987552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25880" y="5001768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30" b="1" dirty="0">
                <a:solidFill>
                  <a:srgbClr val="0F172A"/>
                </a:solidFill>
              </a:rPr>
              <a:t>Evolith resuelve el gobierno arquitectónico. El SDLC resuelve la implementación controlada. UMS demuestra la aplicación real.</a:t>
            </a:r>
            <a:endParaRPr lang="en-US" sz="15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613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Ecosistema de dos capas: reglas corporativas + prueba empresarial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Evolith ARCH32 define cómo deben diseñarse y gobernarse las aplicaciones; UMS demuestra cómo hacerlo en un sistema real.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4800600" cy="3474720"/>
          </a:xfrm>
          <a:prstGeom prst="roundRect">
            <a:avLst>
              <a:gd name="adj" fmla="val 3158"/>
            </a:avLst>
          </a:prstGeom>
          <a:solidFill>
            <a:srgbClr val="DBEAFE"/>
          </a:solidFill>
          <a:ln w="13970">
            <a:solidFill>
              <a:srgbClr val="1D4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1399032"/>
            <a:ext cx="4398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4ED8"/>
                </a:solidFill>
              </a:rPr>
              <a:t>Evolith ARCH32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78408" y="1709928"/>
            <a:ext cx="4398264" cy="2880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Framework arquitectónico corporativo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• Estándares y patrones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• ADRs y gobierno técnico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• SDLC, quality gates y artefactos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• Seguridad, multi-tenancy, trazabilidad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• Reglas reutilizables para muchos sistemas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629400" y="1234440"/>
            <a:ext cx="4800600" cy="3474720"/>
          </a:xfrm>
          <a:prstGeom prst="roundRect">
            <a:avLst>
              <a:gd name="adj" fmla="val 3158"/>
            </a:avLst>
          </a:prstGeom>
          <a:solidFill>
            <a:srgbClr val="DCFCE7"/>
          </a:solidFill>
          <a:ln w="1397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30568" y="1399032"/>
            <a:ext cx="4398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803D"/>
                </a:solidFill>
              </a:rPr>
              <a:t>UMS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830568" y="1709928"/>
            <a:ext cx="4398264" cy="2880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Aplicación empresarial real de referencia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• Implementa identidad y autorización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• Valida multi-tenancy y parametrización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• Demuestra Auth Graph, perfiles, permisos, menús y acciones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• Genera evidencia de código, pruebas y operación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50992" y="242316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15000" y="2560320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aplica →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60120" y="5285232"/>
            <a:ext cx="10287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0F172A"/>
                </a:solidFill>
              </a:rPr>
              <a:t>Precisión conceptual: UMS no limita Evolith. UMS es un ejemplo corporativo funcional que permite reutilizar patrones en futuras aplicaciones empresariales.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613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Estrategia SDLC: adoptar lo necesario, probar antes de escalar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El SDLC de Evolith permite avanzar por niveles de madurez sin imponer toda la complejidad desde el día uno.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2075688" cy="969264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7780">
            <a:solidFill>
              <a:srgbClr val="1D4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527048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24712" y="1536192"/>
            <a:ext cx="152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Definir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50392" y="1874520"/>
            <a:ext cx="174650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PRD</a:t>
            </a:r>
            <a:endParaRPr lang="en-US" sz="870" dirty="0"/>
          </a:p>
          <a:p>
            <a:pPr algn="ctr"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objetivo, alcance, valor</a:t>
            </a:r>
            <a:endParaRPr lang="en-US" sz="870" dirty="0"/>
          </a:p>
        </p:txBody>
      </p:sp>
      <p:sp>
        <p:nvSpPr>
          <p:cNvPr id="8" name="Shape 6"/>
          <p:cNvSpPr/>
          <p:nvPr/>
        </p:nvSpPr>
        <p:spPr>
          <a:xfrm>
            <a:off x="2926080" y="1417320"/>
            <a:ext cx="2075688" cy="969264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35808" y="1527048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64992" y="1536192"/>
            <a:ext cx="152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Diseñar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090672" y="1874520"/>
            <a:ext cx="174650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Functional Story</a:t>
            </a:r>
            <a:endParaRPr lang="en-US" sz="870" dirty="0"/>
          </a:p>
          <a:p>
            <a:pPr algn="ctr"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ADR si hay decisión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5166360" y="1417320"/>
            <a:ext cx="2075688" cy="969264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778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76088" y="1527048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05272" y="1536192"/>
            <a:ext cx="152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Construir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330952" y="1874520"/>
            <a:ext cx="174650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Technical Story</a:t>
            </a:r>
            <a:endParaRPr lang="en-US" sz="870" dirty="0"/>
          </a:p>
          <a:p>
            <a:pPr algn="ctr"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CI + DoD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7406640" y="1417320"/>
            <a:ext cx="2075688" cy="969264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16368" y="1527048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845552" y="1536192"/>
            <a:ext cx="152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Validar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571232" y="1874520"/>
            <a:ext cx="174650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Test Summary Report</a:t>
            </a:r>
            <a:endParaRPr lang="en-US" sz="870" dirty="0"/>
          </a:p>
          <a:p>
            <a:pPr algn="ctr"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quality gates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9646920" y="1417320"/>
            <a:ext cx="2075688" cy="969264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7780">
            <a:solidFill>
              <a:srgbClr val="1580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56648" y="1527048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803D"/>
                </a:solidFill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85832" y="1536192"/>
            <a:ext cx="152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Liberar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811512" y="1874520"/>
            <a:ext cx="174650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Release Notes</a:t>
            </a:r>
            <a:endParaRPr lang="en-US" sz="870" dirty="0"/>
          </a:p>
          <a:p>
            <a:pPr algn="ctr"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observabilidad + rollback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777240" y="2971800"/>
            <a:ext cx="32461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3136392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</a:rPr>
              <a:t>Essential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60120" y="3456432"/>
            <a:ext cx="28803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Para MVPs y equipos pequeños.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Artefactos mínimos: PRD, FS, TS, Release Notes.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462272" y="2971800"/>
            <a:ext cx="32461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45152" y="3136392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</a:rPr>
              <a:t>Governed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645152" y="3456432"/>
            <a:ext cx="28803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Para releases productivos.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Se agregan ADRs, Test Summary Report y quality gates.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138160" y="2971800"/>
            <a:ext cx="32461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21040" y="3136392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</a:rPr>
              <a:t>Enterprise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321040" y="3456432"/>
            <a:ext cx="28803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Para productos críticos o multi-equipo.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Se agregan RACI, Scorecard, trazabilidad y readiness operativo.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188720" y="4983480"/>
            <a:ext cx="9829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Principio ejecutivo: cada artefacto existe para tomar una decisión, no para producir burocracia.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613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Artefactos clave: una cadena de evidencia para decidir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El flujo conecta intención de negocio, decisiones arquitectónicas, implementación, validación y operación.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508760" cy="1051560"/>
          </a:xfrm>
          <a:prstGeom prst="roundRect">
            <a:avLst>
              <a:gd name="adj" fmla="val 8696"/>
            </a:avLst>
          </a:prstGeom>
          <a:solidFill>
            <a:srgbClr val="DBEAFE"/>
          </a:solidFill>
          <a:ln w="13970">
            <a:solidFill>
              <a:srgbClr val="1D4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1581912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D4ED8"/>
                </a:solidFill>
              </a:rPr>
              <a:t>PRD</a:t>
            </a:r>
            <a:endParaRPr lang="en-US" sz="1230" dirty="0"/>
          </a:p>
        </p:txBody>
      </p:sp>
      <p:sp>
        <p:nvSpPr>
          <p:cNvPr id="6" name="Text 4"/>
          <p:cNvSpPr/>
          <p:nvPr/>
        </p:nvSpPr>
        <p:spPr>
          <a:xfrm>
            <a:off x="603504" y="1892808"/>
            <a:ext cx="130759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334155"/>
                </a:solidFill>
              </a:rPr>
              <a:t>¿Por qué y para quién?</a:t>
            </a:r>
            <a:endParaRPr lang="en-US" sz="840" dirty="0"/>
          </a:p>
        </p:txBody>
      </p:sp>
      <p:sp>
        <p:nvSpPr>
          <p:cNvPr id="7" name="Shape 5"/>
          <p:cNvSpPr/>
          <p:nvPr/>
        </p:nvSpPr>
        <p:spPr>
          <a:xfrm>
            <a:off x="2039112" y="1938528"/>
            <a:ext cx="13716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176272" y="1417320"/>
            <a:ext cx="1508760" cy="1051560"/>
          </a:xfrm>
          <a:prstGeom prst="roundRect">
            <a:avLst>
              <a:gd name="adj" fmla="val 8696"/>
            </a:avLst>
          </a:prstGeom>
          <a:solidFill>
            <a:srgbClr val="EDE9FE"/>
          </a:solidFill>
          <a:ln w="1397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58568" y="1581912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7C3AED"/>
                </a:solidFill>
              </a:rPr>
              <a:t>Functional Story</a:t>
            </a:r>
            <a:endParaRPr lang="en-US" sz="1230" dirty="0"/>
          </a:p>
        </p:txBody>
      </p:sp>
      <p:sp>
        <p:nvSpPr>
          <p:cNvPr id="10" name="Text 8"/>
          <p:cNvSpPr/>
          <p:nvPr/>
        </p:nvSpPr>
        <p:spPr>
          <a:xfrm>
            <a:off x="2276856" y="1892808"/>
            <a:ext cx="130759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334155"/>
                </a:solidFill>
              </a:rPr>
              <a:t>¿Qué comportamiento debe existir?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3712464" y="1938528"/>
            <a:ext cx="13716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849624" y="1417320"/>
            <a:ext cx="1508760" cy="1051560"/>
          </a:xfrm>
          <a:prstGeom prst="roundRect">
            <a:avLst>
              <a:gd name="adj" fmla="val 8696"/>
            </a:avLst>
          </a:prstGeom>
          <a:solidFill>
            <a:srgbClr val="FEF3C7"/>
          </a:solidFill>
          <a:ln w="1397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0" y="1581912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D97706"/>
                </a:solidFill>
              </a:rPr>
              <a:t>ADR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3950208" y="1892808"/>
            <a:ext cx="130759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334155"/>
                </a:solidFill>
              </a:rPr>
              <a:t>¿Qué decisión arquitectónica gobierna?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5385816" y="1938528"/>
            <a:ext cx="13716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522976" y="1417320"/>
            <a:ext cx="1508760" cy="1051560"/>
          </a:xfrm>
          <a:prstGeom prst="roundRect">
            <a:avLst>
              <a:gd name="adj" fmla="val 8696"/>
            </a:avLst>
          </a:prstGeom>
          <a:solidFill>
            <a:srgbClr val="CCFBF1"/>
          </a:solidFill>
          <a:ln w="1397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05272" y="1581912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0F766E"/>
                </a:solidFill>
              </a:rPr>
              <a:t>Technical Story</a:t>
            </a:r>
            <a:endParaRPr lang="en-US" sz="1230" dirty="0"/>
          </a:p>
        </p:txBody>
      </p:sp>
      <p:sp>
        <p:nvSpPr>
          <p:cNvPr id="18" name="Text 16"/>
          <p:cNvSpPr/>
          <p:nvPr/>
        </p:nvSpPr>
        <p:spPr>
          <a:xfrm>
            <a:off x="5623560" y="1892808"/>
            <a:ext cx="130759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334155"/>
                </a:solidFill>
              </a:rPr>
              <a:t>¿Qué se implementa?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7059168" y="1938528"/>
            <a:ext cx="13716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196328" y="1417320"/>
            <a:ext cx="1508760" cy="1051560"/>
          </a:xfrm>
          <a:prstGeom prst="roundRect">
            <a:avLst>
              <a:gd name="adj" fmla="val 8696"/>
            </a:avLst>
          </a:prstGeom>
          <a:solidFill>
            <a:srgbClr val="FEE2E2"/>
          </a:solidFill>
          <a:ln w="13970">
            <a:solidFill>
              <a:srgbClr val="B91C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78624" y="1581912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B91C1C"/>
                </a:solidFill>
              </a:rPr>
              <a:t>Test Summary</a:t>
            </a:r>
            <a:endParaRPr lang="en-US" sz="1230" dirty="0"/>
          </a:p>
        </p:txBody>
      </p:sp>
      <p:sp>
        <p:nvSpPr>
          <p:cNvPr id="22" name="Text 20"/>
          <p:cNvSpPr/>
          <p:nvPr/>
        </p:nvSpPr>
        <p:spPr>
          <a:xfrm>
            <a:off x="7296912" y="1892808"/>
            <a:ext cx="130759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334155"/>
                </a:solidFill>
              </a:rPr>
              <a:t>¿Está validado?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8732520" y="1938528"/>
            <a:ext cx="13716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869680" y="1417320"/>
            <a:ext cx="1508760" cy="1051560"/>
          </a:xfrm>
          <a:prstGeom prst="roundRect">
            <a:avLst>
              <a:gd name="adj" fmla="val 8696"/>
            </a:avLst>
          </a:prstGeom>
          <a:solidFill>
            <a:srgbClr val="DCFCE7"/>
          </a:solidFill>
          <a:ln w="13970">
            <a:solidFill>
              <a:srgbClr val="1580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51976" y="1581912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5803D"/>
                </a:solidFill>
              </a:rPr>
              <a:t>Release Notes</a:t>
            </a:r>
            <a:endParaRPr lang="en-US" sz="1230" dirty="0"/>
          </a:p>
        </p:txBody>
      </p:sp>
      <p:sp>
        <p:nvSpPr>
          <p:cNvPr id="26" name="Text 24"/>
          <p:cNvSpPr/>
          <p:nvPr/>
        </p:nvSpPr>
        <p:spPr>
          <a:xfrm>
            <a:off x="8970264" y="1892808"/>
            <a:ext cx="130759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334155"/>
                </a:solidFill>
              </a:rPr>
              <a:t>¿Se puede operar?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10405872" y="1938528"/>
            <a:ext cx="13716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543032" y="1417320"/>
            <a:ext cx="1508760" cy="1051560"/>
          </a:xfrm>
          <a:prstGeom prst="roundRect">
            <a:avLst>
              <a:gd name="adj" fmla="val 8696"/>
            </a:avLst>
          </a:prstGeom>
          <a:solidFill>
            <a:srgbClr val="E2E8F0"/>
          </a:solidFill>
          <a:ln w="13970">
            <a:solidFill>
              <a:srgbClr val="0F17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625328" y="1581912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0F172A"/>
                </a:solidFill>
              </a:rPr>
              <a:t>Scorecard</a:t>
            </a:r>
            <a:endParaRPr lang="en-US" sz="1230" dirty="0"/>
          </a:p>
        </p:txBody>
      </p:sp>
      <p:sp>
        <p:nvSpPr>
          <p:cNvPr id="30" name="Text 28"/>
          <p:cNvSpPr/>
          <p:nvPr/>
        </p:nvSpPr>
        <p:spPr>
          <a:xfrm>
            <a:off x="10643616" y="1892808"/>
            <a:ext cx="130759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334155"/>
                </a:solidFill>
              </a:rPr>
              <a:t>¿Avanzamos o bloqueamos?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777240" y="3108960"/>
            <a:ext cx="32461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3970">
            <a:solidFill>
              <a:srgbClr val="1D4E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8408" y="3273552"/>
            <a:ext cx="2843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4ED8"/>
                </a:solidFill>
              </a:rPr>
              <a:t>Gate de decisión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978408" y="3584448"/>
            <a:ext cx="2843784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Cada fase termina con una pregunta clara: aprobar, avanzar con condición, bloquear o escalar.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480560" y="3108960"/>
            <a:ext cx="32461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397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81728" y="3273552"/>
            <a:ext cx="2843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C3AED"/>
                </a:solidFill>
              </a:rPr>
              <a:t>Evidencia verificable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4681728" y="3584448"/>
            <a:ext cx="2843784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Los enlaces a código, pruebas, ADRs, reportes y observabilidad reemplazan decisiones informales.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183880" y="3108960"/>
            <a:ext cx="32461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3970">
            <a:solidFill>
              <a:srgbClr val="1580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85048" y="3273552"/>
            <a:ext cx="2843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803D"/>
                </a:solidFill>
              </a:rPr>
              <a:t>Seguimiento ejecutivo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8385048" y="3584448"/>
            <a:ext cx="2843784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El Scorecard consolida estado, riesgos, responsables, acciones y fecha de próxima decisión.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613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UMS demuestra Evolith en una aplicación empresarial real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UMS permite validar patrones de seguridad, multi-tenancy, parametrización, Auth Graph, datos, seeds y documentación.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138928" y="2697480"/>
            <a:ext cx="1828800" cy="914400"/>
          </a:xfrm>
          <a:prstGeom prst="ellipse">
            <a:avLst/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85232" y="28986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803D"/>
                </a:solidFill>
              </a:rPr>
              <a:t>UMS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5803D"/>
                </a:solidFill>
              </a:rPr>
              <a:t>Reference App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40817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D4ED8"/>
                </a:solidFill>
              </a:rPr>
              <a:t>Multi-tenancy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877824" y="170078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Tenants, usuarios, scopes, visibilidad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731520" y="393192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405993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7C3AED"/>
                </a:solidFill>
              </a:rPr>
              <a:t>Parametrización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877824" y="435254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Global, tenant, precedencia, loaders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4709160" y="132588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55464" y="145389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D97706"/>
                </a:solidFill>
              </a:rPr>
              <a:t>Auth Graph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4855464" y="17465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Menús, recursos, acciones, permisos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8046720" y="128016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93024" y="140817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0F766E"/>
                </a:solidFill>
              </a:rPr>
              <a:t>Autenticación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8193024" y="170078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Local, IDP, resolución por tenant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8046720" y="393192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93024" y="405993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B91C1C"/>
                </a:solidFill>
              </a:rPr>
              <a:t>Seeds / Mocks / DB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8193024" y="435254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Consistencia local, mocks y producción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4709160" y="416052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55464" y="428853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5803D"/>
                </a:solidFill>
              </a:rPr>
              <a:t>UI/UX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4855464" y="458114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Material Design 3, claridad, consistencia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1188720" y="5486400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Reutilización: cada aprendizaje de UMS puede consolidarse como patrón Evolith para futuras aplicaciones empresariales.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613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Implementación ejecutiva: workshop, decisiones y seguimiento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La adopción se trabaja en sesiones prácticas para definir nivel, fases aplicables, responsables, gaps y plan de adecuación.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24231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1D4E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0200" y="1536192"/>
            <a:ext cx="502920" cy="50292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19072" y="16642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17627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Definir adopción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50976" y="2542032"/>
            <a:ext cx="1984248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Essential / Governed / Enterprise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riesgo, alcance y sponsors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566160" y="1325880"/>
            <a:ext cx="24231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536192"/>
            <a:ext cx="502920" cy="50292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16642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49040" y="217627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Mapear UMS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785616" y="2542032"/>
            <a:ext cx="1984248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componentes, Auth Graph, parámetros, tenants, seeds y evidencias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400800" y="1325880"/>
            <a:ext cx="24231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0F76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69480" y="1536192"/>
            <a:ext cx="502920" cy="50292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88352" y="16642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217627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Asignar responsables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620256" y="2542032"/>
            <a:ext cx="1984248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RACI nominal por fase e hito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owner y backup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235440" y="1325880"/>
            <a:ext cx="24231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1580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04120" y="1536192"/>
            <a:ext cx="502920" cy="50292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22992" y="16642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803D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418320" y="217627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Cerrar plan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454896" y="2542032"/>
            <a:ext cx="1984248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gaps, riesgos, acciones, fechas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y scorecard ejecutivo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097280" y="4069080"/>
            <a:ext cx="100126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25880" y="42519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Scorecard ejecutivo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429000" y="4224528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Fases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502152" y="4480560"/>
            <a:ext cx="1024128" cy="256032"/>
          </a:xfrm>
          <a:prstGeom prst="roundRect">
            <a:avLst>
              <a:gd name="adj" fmla="val 17857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20440" y="453542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On Track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4846320" y="4224528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Artefactos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919472" y="4480560"/>
            <a:ext cx="1024128" cy="256032"/>
          </a:xfrm>
          <a:prstGeom prst="roundRect">
            <a:avLst>
              <a:gd name="adj" fmla="val 1785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453542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At Risk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6263640" y="4224528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RACI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336792" y="4480560"/>
            <a:ext cx="1024128" cy="256032"/>
          </a:xfrm>
          <a:prstGeom prst="roundRect">
            <a:avLst>
              <a:gd name="adj" fmla="val 17857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453542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Ready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7680960" y="4224528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Calidad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754112" y="4480560"/>
            <a:ext cx="1024128" cy="256032"/>
          </a:xfrm>
          <a:prstGeom prst="roundRect">
            <a:avLst>
              <a:gd name="adj" fmla="val 1785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0" y="453542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Watch</a:t>
            </a:r>
            <a:endParaRPr lang="en-US" sz="740" dirty="0"/>
          </a:p>
        </p:txBody>
      </p:sp>
      <p:sp>
        <p:nvSpPr>
          <p:cNvPr id="38" name="Text 36"/>
          <p:cNvSpPr/>
          <p:nvPr/>
        </p:nvSpPr>
        <p:spPr>
          <a:xfrm>
            <a:off x="9098280" y="4224528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Producción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9171432" y="4480560"/>
            <a:ext cx="1024128" cy="256032"/>
          </a:xfrm>
          <a:prstGeom prst="roundRect">
            <a:avLst>
              <a:gd name="adj" fmla="val 17857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89720" y="453542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Blocked</a:t>
            </a:r>
            <a:endParaRPr lang="en-US" sz="740" dirty="0"/>
          </a:p>
        </p:txBody>
      </p:sp>
      <p:sp>
        <p:nvSpPr>
          <p:cNvPr id="41" name="Text 39"/>
          <p:cNvSpPr/>
          <p:nvPr/>
        </p:nvSpPr>
        <p:spPr>
          <a:xfrm>
            <a:off x="2011680" y="53492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Decisión ejecutiva: Proceed · Conditional Proceed · Block · Escalate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613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BeyondNetCode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Evolith ARCH32 + UMS Executive Reference v4</dc:title>
  <dc:subject>Evolith ARCH32 + UMS Reference Application and SDLC adoption</dc:subject>
  <dc:creator>BeyondNetCode / Evolith</dc:creator>
  <cp:lastModifiedBy>BeyondNetCode / Evolith</cp:lastModifiedBy>
  <cp:revision>1</cp:revision>
  <dcterms:created xsi:type="dcterms:W3CDTF">2026-06-02T16:38:41Z</dcterms:created>
  <dcterms:modified xsi:type="dcterms:W3CDTF">2026-06-02T16:38:41Z</dcterms:modified>
</cp:coreProperties>
</file>