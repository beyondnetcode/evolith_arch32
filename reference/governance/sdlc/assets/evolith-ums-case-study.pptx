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5000">
                <a:solidFill>
                  <a:srgbClr val="FFFFFF"/>
                </a:solidFill>
              </a:defRPr>
            </a:pPr>
            <a:r>
              <a:t>Caso de Éxito: User Management System (UMS)</a:t>
            </a:r>
          </a:p>
          <a:p>
            <a:pPr>
              <a:spcBef>
                <a:spcPts val="1400"/>
              </a:spcBef>
              <a:defRPr sz="2400">
                <a:solidFill>
                  <a:srgbClr val="3B82F6"/>
                </a:solidFill>
              </a:defRPr>
            </a:pPr>
            <a:r>
              <a:t>Aplicando el marco SDLC Evolith a nivel Enterprise.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El Desafío Original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UMS enfrentaba sobrecostes y retrasos.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Silos entre Negocio, Arquitectura y Ops.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Ausencia de gobierno en accesos corporativos.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Fundamentando el Proyecto (Fases 1 y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Business Case sólido para el Portal Industrial.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45 historias de usuario priorizadas (MoSCoW).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Aprobación de Gate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Arquitectura y Código Trazable (Fases 3 y 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Blueprint de Arquitectura Hexagonal.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5 ADRs clave documentados.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Quality Gates: SonarQube bloqueando PRs (&lt;80%).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Validación Rigurosa y Release (Fases 5 y 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Ejecución del Plan Maestro de Pruebas.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Despliegue con Runbooks automatizados.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Cero fricción en ventana de mantenimiento.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Mantenimiento del Valor (Fases 7 y 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Dashboard Operaciones en tiempo real.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Checklist para retirar módulos Legacy.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El Impacto en UMS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Time-to-Market: de 18 a 8 meses.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Calidad: -50% incidentes P1.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Seguridad: Auditoría limpia.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La Visión de Liderazgo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Evolith es un lenguaje común.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Garantiza valor sin riesgos ocultos.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Laura Mendes, CIO UMS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Factores Críticos de Éxito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QA y SecOps tempranos.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ADRs evitan discusiones.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Automatización no-negociable.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914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FFFFF"/>
                </a:solidFill>
              </a:defRPr>
            </a:pPr>
            <a:r>
              <a:t>Por qué UMS recomienda Evolith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23232"/>
                </a:solidFill>
              </a:defRPr>
            </a:pPr>
            <a:r>
              <a:t>Gobernanza que acelera, no retrasa.</a:t>
            </a:r>
          </a:p>
          <a:p>
            <a:pPr>
              <a:spcBef>
                <a:spcPts val="1400"/>
              </a:spcBef>
              <a:defRPr sz="2200">
                <a:solidFill>
                  <a:srgbClr val="323232"/>
                </a:solidFill>
              </a:defRPr>
            </a:pPr>
            <a:r>
              <a:t>• Transparencia radical.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