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95360" y="548640"/>
            <a:ext cx="237744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52560" y="786384"/>
            <a:ext cx="1645920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1024128"/>
            <a:ext cx="109728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77724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1">
                <a:solidFill>
                  <a:srgbClr val="0EA5E9"/>
                </a:solidFill>
                <a:latin typeface="Aptos"/>
              </a:rPr>
              <a:t>EVOLITH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7132320" cy="10972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Qué es Evolith y su
propuesta SDLC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88920"/>
            <a:ext cx="6949440" cy="56692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Aptos"/>
              </a:rPr>
              <a:t>Marco corporativo para controlar delivery, arquitectura, calidad y trazabilidad desde la intención de negocio hasta producción.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800600"/>
            <a:ext cx="438912" cy="43891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64608"/>
            <a:ext cx="438912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4864608"/>
            <a:ext cx="10515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Concepción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5020056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606039" y="4800600"/>
            <a:ext cx="438912" cy="43891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39" y="4864608"/>
            <a:ext cx="438912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1" y="4864608"/>
            <a:ext cx="10515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Diseño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60520" y="5020056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480559" y="4800600"/>
            <a:ext cx="438912" cy="43891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4864608"/>
            <a:ext cx="438912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864608"/>
            <a:ext cx="10515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Construcción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5020056"/>
            <a:ext cx="274319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355079" y="4800600"/>
            <a:ext cx="438912" cy="43891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4864608"/>
            <a:ext cx="438912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431" y="4864608"/>
            <a:ext cx="10515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Validación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09559" y="5020056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229600" y="4800600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864608"/>
            <a:ext cx="438912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9952" y="4864608"/>
            <a:ext cx="105156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Entrega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6144768"/>
            <a:ext cx="42062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Presentación ejecutiva · Español · Máx. 7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144768"/>
            <a:ext cx="5486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00" b="1">
                <a:solidFill>
                  <a:srgbClr val="2563EB"/>
                </a:solidFill>
                <a:latin typeface="Aptos"/>
              </a:rPr>
              <a:t>EVOLITH SDLC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841248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0A1F44"/>
                </a:solidFill>
                <a:latin typeface="Aptos"/>
              </a:rPr>
              <a:t>El problema ejecutivo que resuelve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05840"/>
            <a:ext cx="89611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Sin control explícito, el delivery avanza con riesgo oculto y evidencia dispersa.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75488"/>
            <a:ext cx="20574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27432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00" b="0">
                <a:solidFill>
                  <a:srgbClr val="64748B"/>
                </a:solidFill>
                <a:latin typeface="Aptos"/>
              </a:rPr>
              <a:t>Evolith Architecture · SDLC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6576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64748B"/>
                </a:solidFill>
                <a:latin typeface="Aptos"/>
              </a:rPr>
              <a:t>2/7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384048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0A1F44"/>
                </a:solidFill>
                <a:latin typeface="Aptos"/>
              </a:rPr>
              <a:t>Antes de Evolith SDLC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719072"/>
            <a:ext cx="4297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19072"/>
            <a:ext cx="45720" cy="6217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847088"/>
            <a:ext cx="4005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Riesgo tardío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48839"/>
            <a:ext cx="4005072" cy="914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Arquitectura, seguridad y operación se validan demasiado tarde.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05456"/>
            <a:ext cx="4297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505456"/>
            <a:ext cx="45720" cy="6217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633472"/>
            <a:ext cx="4005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Gates subjetivos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935224"/>
            <a:ext cx="4005072" cy="914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Las fases avanzan por acuerdo verbal, no por evidencia.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291839"/>
            <a:ext cx="4297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291839"/>
            <a:ext cx="45720" cy="6217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419856"/>
            <a:ext cx="4005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Trazabilidad débil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3721607"/>
            <a:ext cx="4005072" cy="914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No siempre se conecta negocio, diseño, pruebas y release.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078224"/>
            <a:ext cx="4297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4078224"/>
            <a:ext cx="45720" cy="6217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206240"/>
            <a:ext cx="4005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Calidad reactiva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4507992"/>
            <a:ext cx="4005072" cy="914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QA detecta problemas cuando el costo de corrección ya es alto.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1325880"/>
            <a:ext cx="384048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0A1F44"/>
                </a:solidFill>
                <a:latin typeface="Aptos"/>
              </a:rPr>
              <a:t>Con Evolith SDLC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19072"/>
            <a:ext cx="4297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37960" y="1719072"/>
            <a:ext cx="45720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2552" y="1847088"/>
            <a:ext cx="4005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Control por evidencia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02552" y="2148839"/>
            <a:ext cx="4005072" cy="914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Cada gate exige evidencia versionada y accountable.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2505456"/>
            <a:ext cx="4297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37960" y="2505456"/>
            <a:ext cx="45720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2633472"/>
            <a:ext cx="4005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Riesgo adelantado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2935224"/>
            <a:ext cx="4005072" cy="914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Decisiones críticas se resuelven antes de construir.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3291839"/>
            <a:ext cx="4297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3291839"/>
            <a:ext cx="45720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02552" y="3419856"/>
            <a:ext cx="4005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Trazabilidad end-to-end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2552" y="3721607"/>
            <a:ext cx="4005072" cy="914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Necesidad → artefacto → prueba → release → operación.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37960" y="4078224"/>
            <a:ext cx="4297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37960" y="4078224"/>
            <a:ext cx="45720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02552" y="4206240"/>
            <a:ext cx="4005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Readiness verificable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2552" y="4507992"/>
            <a:ext cx="4005072" cy="914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Producción solo avanza con QA, release y observabilidad listos.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230368" y="2880360"/>
            <a:ext cx="960120" cy="50292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83480" y="3493008"/>
            <a:ext cx="1444752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Aptos"/>
              </a:rPr>
              <a:t>Sistema de
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00" b="1">
                <a:solidFill>
                  <a:srgbClr val="2563EB"/>
                </a:solidFill>
                <a:latin typeface="Aptos"/>
              </a:rPr>
              <a:t>EVOLITH SDLC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841248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0A1F44"/>
                </a:solidFill>
                <a:latin typeface="Aptos"/>
              </a:rPr>
              <a:t>Modelo operativo 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05840"/>
            <a:ext cx="89611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Cinco fases, cinco gates y una regla: no avanzar sin evidencia objetiva.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75488"/>
            <a:ext cx="20574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27432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00" b="0">
                <a:solidFill>
                  <a:srgbClr val="64748B"/>
                </a:solidFill>
                <a:latin typeface="Aptos"/>
              </a:rPr>
              <a:t>Evolith Architecture · SDLC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6576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64748B"/>
                </a:solidFill>
                <a:latin typeface="Aptos"/>
              </a:rPr>
              <a:t>3/7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45720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956816"/>
            <a:ext cx="153619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Concepción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258568"/>
            <a:ext cx="1536192" cy="70408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PRD y alcance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1965960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029967"/>
            <a:ext cx="310896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2788920"/>
            <a:ext cx="1316736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843784"/>
            <a:ext cx="124358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Aprobación
de negocio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87168" y="2423160"/>
            <a:ext cx="310895" cy="0"/>
          </a:xfrm>
          <a:prstGeom prst="line">
            <a:avLst/>
          </a:prstGeom>
          <a:ln w="177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182880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0360" y="1828800"/>
            <a:ext cx="45720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44952" y="1956816"/>
            <a:ext cx="153619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Diseño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2258568"/>
            <a:ext cx="1536192" cy="70408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Historias y ADRs</a:t>
            </a:r>
          </a:p>
        </p:txBody>
      </p:sp>
      <p:sp>
        <p:nvSpPr>
          <p:cNvPr id="21" name="Oval 20"/>
          <p:cNvSpPr/>
          <p:nvPr/>
        </p:nvSpPr>
        <p:spPr>
          <a:xfrm>
            <a:off x="2990088" y="1965960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0088" y="2029967"/>
            <a:ext cx="310896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27248" y="2788920"/>
            <a:ext cx="1316736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3824" y="2843784"/>
            <a:ext cx="124358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Baseline
de diseño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27448" y="2423160"/>
            <a:ext cx="310896" cy="0"/>
          </a:xfrm>
          <a:prstGeom prst="line">
            <a:avLst/>
          </a:prstGeom>
          <a:ln w="177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20640" y="182880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20640" y="1828800"/>
            <a:ext cx="45720" cy="1234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5232" y="1956816"/>
            <a:ext cx="153619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Construcción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5232" y="2258568"/>
            <a:ext cx="1536192" cy="70408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Código + DoD</a:t>
            </a:r>
          </a:p>
        </p:txBody>
      </p:sp>
      <p:sp>
        <p:nvSpPr>
          <p:cNvPr id="30" name="Oval 29"/>
          <p:cNvSpPr/>
          <p:nvPr/>
        </p:nvSpPr>
        <p:spPr>
          <a:xfrm>
            <a:off x="5230368" y="1965960"/>
            <a:ext cx="310896" cy="310896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30368" y="2029967"/>
            <a:ext cx="310896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67528" y="2788920"/>
            <a:ext cx="1316736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04104" y="2843784"/>
            <a:ext cx="124358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Build
exitoso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67728" y="2423160"/>
            <a:ext cx="310896" cy="0"/>
          </a:xfrm>
          <a:prstGeom prst="line">
            <a:avLst/>
          </a:prstGeom>
          <a:ln w="177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360920" y="182880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60920" y="1828800"/>
            <a:ext cx="45720" cy="1234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25512" y="1956816"/>
            <a:ext cx="153619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Validación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2258568"/>
            <a:ext cx="1536192" cy="70408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Tests y evidencias</a:t>
            </a:r>
          </a:p>
        </p:txBody>
      </p:sp>
      <p:sp>
        <p:nvSpPr>
          <p:cNvPr id="39" name="Oval 38"/>
          <p:cNvSpPr/>
          <p:nvPr/>
        </p:nvSpPr>
        <p:spPr>
          <a:xfrm>
            <a:off x="7470648" y="1965960"/>
            <a:ext cx="310896" cy="310896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70648" y="2029967"/>
            <a:ext cx="310896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07808" y="2788920"/>
            <a:ext cx="1316736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44383" y="2843784"/>
            <a:ext cx="124358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RC
sellado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208008" y="2423160"/>
            <a:ext cx="310896" cy="0"/>
          </a:xfrm>
          <a:prstGeom prst="line">
            <a:avLst/>
          </a:prstGeom>
          <a:ln w="177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601200" y="182880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1828800"/>
            <a:ext cx="45720" cy="1234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65792" y="1956816"/>
            <a:ext cx="153619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Entrega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65792" y="2258568"/>
            <a:ext cx="1536192" cy="70408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Release + operación</a:t>
            </a:r>
          </a:p>
        </p:txBody>
      </p:sp>
      <p:sp>
        <p:nvSpPr>
          <p:cNvPr id="48" name="Oval 47"/>
          <p:cNvSpPr/>
          <p:nvPr/>
        </p:nvSpPr>
        <p:spPr>
          <a:xfrm>
            <a:off x="9710928" y="1965960"/>
            <a:ext cx="310896" cy="310896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10928" y="2029967"/>
            <a:ext cx="310896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48088" y="2788920"/>
            <a:ext cx="1316736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84663" y="2843784"/>
            <a:ext cx="124358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Producción
activa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34440" y="4617720"/>
            <a:ext cx="9738360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4782312"/>
            <a:ext cx="923544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Aptos"/>
              </a:rPr>
              <a:t>Regla operativa: cada gate requiere evidencia versionada, responsable accountable y criterio objetivo de aprobación.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00" b="1">
                <a:solidFill>
                  <a:srgbClr val="2563EB"/>
                </a:solidFill>
                <a:latin typeface="Aptos"/>
              </a:rPr>
              <a:t>EVOLITH SDLC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841248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0A1F44"/>
                </a:solidFill>
                <a:latin typeface="Aptos"/>
              </a:rPr>
              <a:t>Artefactos clave: de intención 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05840"/>
            <a:ext cx="89611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Evolith no pide documentos por burocracia: pide evidencia mínima para controlar riesgo y avance.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75488"/>
            <a:ext cx="20574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27432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00" b="0">
                <a:solidFill>
                  <a:srgbClr val="64748B"/>
                </a:solidFill>
                <a:latin typeface="Aptos"/>
              </a:rPr>
              <a:t>Evolith Architecture · SDLC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6576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64748B"/>
                </a:solidFill>
                <a:latin typeface="Aptos"/>
              </a:rPr>
              <a:t>4/7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74519"/>
            <a:ext cx="1508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74519"/>
            <a:ext cx="45720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02536"/>
            <a:ext cx="1216151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PRD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304287"/>
            <a:ext cx="1216151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Intención
de negocio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0552" y="2441448"/>
            <a:ext cx="265175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68879" y="1874519"/>
            <a:ext cx="1508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68879" y="1874519"/>
            <a:ext cx="45720" cy="1143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2002536"/>
            <a:ext cx="1216151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Historia
Funcional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2304287"/>
            <a:ext cx="1216151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Comportamiento
esperado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05072" y="2441448"/>
            <a:ext cx="265176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43400" y="1874519"/>
            <a:ext cx="1508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874519"/>
            <a:ext cx="45720" cy="1143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2002536"/>
            <a:ext cx="1216151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Historia
Técnica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2304287"/>
            <a:ext cx="1216151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Implementación
verificable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79592" y="2441448"/>
            <a:ext cx="265176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217920" y="1874519"/>
            <a:ext cx="1508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874519"/>
            <a:ext cx="45720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2002536"/>
            <a:ext cx="1216151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2304287"/>
            <a:ext cx="1216151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Decisión
arquitectónica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54112" y="2441448"/>
            <a:ext cx="265176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92440" y="1874519"/>
            <a:ext cx="1508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1874519"/>
            <a:ext cx="45720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7031" y="2002536"/>
            <a:ext cx="1216151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Test Summary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2304287"/>
            <a:ext cx="1216151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Calidad
validada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628632" y="2441448"/>
            <a:ext cx="265176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966960" y="1874519"/>
            <a:ext cx="1508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966960" y="1874519"/>
            <a:ext cx="45720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1552" y="2002536"/>
            <a:ext cx="1216151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Release Notes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31552" y="2304287"/>
            <a:ext cx="1216151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Operación
controlada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931920"/>
            <a:ext cx="29260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Aptos"/>
              </a:rPr>
              <a:t>Cadena mínima viable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297680"/>
            <a:ext cx="333756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4297680"/>
            <a:ext cx="45720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" y="4425696"/>
            <a:ext cx="304495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Para MVPs pequeños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" y="4727448"/>
            <a:ext cx="3044952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PRD → Historia Funcional → Historia Técnica → Test Summary Report → Release Notes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3931920"/>
            <a:ext cx="34747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Aptos"/>
              </a:rPr>
              <a:t>Cuándo es obligatorio un ADR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26280" y="4297680"/>
            <a:ext cx="333756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6280" y="4297680"/>
            <a:ext cx="45720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90872" y="4425696"/>
            <a:ext cx="304495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Cambio arquitectónico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0872" y="4727448"/>
            <a:ext cx="3044952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Tecnología, seguridad, multi-tenancy, persistencia, API, observabilidad o límites de dominio.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393192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Aptos"/>
              </a:rPr>
              <a:t>Evidencia esperada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66760" y="4297680"/>
            <a:ext cx="26060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66760" y="4297680"/>
            <a:ext cx="45720" cy="8412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31352" y="4425696"/>
            <a:ext cx="231343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Versionada y auditable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31352" y="4727448"/>
            <a:ext cx="2313432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Cada entrega debe dejar trazabilidad revisable.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00" b="1">
                <a:solidFill>
                  <a:srgbClr val="2563EB"/>
                </a:solidFill>
                <a:latin typeface="Aptos"/>
              </a:rPr>
              <a:t>EVOLITH SDLC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841248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0A1F44"/>
                </a:solidFill>
                <a:latin typeface="Aptos"/>
              </a:rPr>
              <a:t>Gobernanza y RACI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05840"/>
            <a:ext cx="89611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La velocidad se sostiene cuando cada gate tiene responsables, aprobadores y evidencias claras.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75488"/>
            <a:ext cx="20574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27432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00" b="0">
                <a:solidFill>
                  <a:srgbClr val="64748B"/>
                </a:solidFill>
                <a:latin typeface="Aptos"/>
              </a:rPr>
              <a:t>Evolith Architecture · SDLC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6576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64748B"/>
                </a:solidFill>
                <a:latin typeface="Aptos"/>
              </a:rPr>
              <a:t>5/7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201168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45720" cy="42062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636776"/>
            <a:ext cx="171907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Gate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1508760"/>
            <a:ext cx="228600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80" y="1508760"/>
            <a:ext cx="45720" cy="42062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2072" y="1636776"/>
            <a:ext cx="199339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Accountable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508760"/>
            <a:ext cx="228600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508760"/>
            <a:ext cx="45720" cy="42062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636776"/>
            <a:ext cx="199339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Responsible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9" y="1508760"/>
            <a:ext cx="27889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19" y="1508760"/>
            <a:ext cx="45720" cy="42062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1" y="1636776"/>
            <a:ext cx="249631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Evidencia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039112"/>
            <a:ext cx="201168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19" y="2185416"/>
            <a:ext cx="182880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Aprobación de negocio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2039112"/>
            <a:ext cx="228600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88920" y="2185416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Sponsor / PO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2039112"/>
            <a:ext cx="228600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2185416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Product Owner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19" y="2039112"/>
            <a:ext cx="278892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59" y="2185416"/>
            <a:ext cx="260604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PRD aprobado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2697480"/>
            <a:ext cx="2011680" cy="475488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19" y="2843784"/>
            <a:ext cx="182880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Baseline de diseño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2697480"/>
            <a:ext cx="2286000" cy="475488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88920" y="2843784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Arquitectura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2697480"/>
            <a:ext cx="2286000" cy="475488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2843784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Architect / Tech Lead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19" y="2697480"/>
            <a:ext cx="2788920" cy="475488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52359" y="2843784"/>
            <a:ext cx="260604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ADRs + historias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3355848"/>
            <a:ext cx="201168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19" y="3502152"/>
            <a:ext cx="182880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Build exitoso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3355848"/>
            <a:ext cx="228600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3502152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Tech Lead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0" y="3355848"/>
            <a:ext cx="228600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0" y="3502152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Dev Team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60919" y="3355848"/>
            <a:ext cx="278892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59" y="3502152"/>
            <a:ext cx="260604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CI + DoD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4014216"/>
            <a:ext cx="2011680" cy="475488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19" y="4160520"/>
            <a:ext cx="182880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RC sellado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4014216"/>
            <a:ext cx="2286000" cy="475488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88920" y="4160520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QA Lead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0" y="4014216"/>
            <a:ext cx="2286000" cy="475488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0" y="4160520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QA / SDET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60919" y="4014216"/>
            <a:ext cx="2788920" cy="475488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52359" y="4160520"/>
            <a:ext cx="260604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Test Summary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4672583"/>
            <a:ext cx="201168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19" y="4818888"/>
            <a:ext cx="182880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Producción activa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4672583"/>
            <a:ext cx="228600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88920" y="4818888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Release Manager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0" y="4672583"/>
            <a:ext cx="228600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20640" y="4818888"/>
            <a:ext cx="210312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DevOps / SRE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60919" y="4672583"/>
            <a:ext cx="278892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52359" y="4818888"/>
            <a:ext cx="2606040" cy="146304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80" b="0">
                <a:solidFill>
                  <a:srgbClr val="334155"/>
                </a:solidFill>
                <a:latin typeface="Aptos"/>
              </a:rPr>
              <a:t>Release + monitoreo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29800" y="1828800"/>
            <a:ext cx="164592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29800" y="1828800"/>
            <a:ext cx="45720" cy="269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94392" y="1956816"/>
            <a:ext cx="135331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Principio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94392" y="2258568"/>
            <a:ext cx="1353312" cy="216712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El RACI no es un anexo: es el mecanismo para evitar ambigüedad en decisiones críticas.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00" b="1">
                <a:solidFill>
                  <a:srgbClr val="2563EB"/>
                </a:solidFill>
                <a:latin typeface="Aptos"/>
              </a:rPr>
              <a:t>EVOLITH SDLC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841248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0A1F44"/>
                </a:solidFill>
                <a:latin typeface="Aptos"/>
              </a:rPr>
              <a:t>Trazabilidad y calidad por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05840"/>
            <a:ext cx="89611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La calidad se gobierna conectando intención, decisión, ejecución, validación y operación.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75488"/>
            <a:ext cx="20574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27432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00" b="0">
                <a:solidFill>
                  <a:srgbClr val="64748B"/>
                </a:solidFill>
                <a:latin typeface="Aptos"/>
              </a:rPr>
              <a:t>Evolith Architecture · SDLC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6576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64748B"/>
                </a:solidFill>
                <a:latin typeface="Aptos"/>
              </a:rPr>
              <a:t>6/7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691640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42062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21992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Aptos"/>
              </a:rPr>
              <a:t>Necesidad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578608"/>
            <a:ext cx="160020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819" b="0">
                <a:solidFill>
                  <a:srgbClr val="64748B"/>
                </a:solidFill>
                <a:latin typeface="Aptos"/>
              </a:rPr>
              <a:t>¿Qué problema resuelve?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9888" y="1901952"/>
            <a:ext cx="1353312" cy="0"/>
          </a:xfrm>
          <a:prstGeom prst="line">
            <a:avLst/>
          </a:prstGeom>
          <a:ln w="215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971800" y="1691640"/>
            <a:ext cx="420624" cy="420624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755648"/>
            <a:ext cx="42062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221992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Aptos"/>
              </a:rPr>
              <a:t>Diseño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578608"/>
            <a:ext cx="160020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819" b="0">
                <a:solidFill>
                  <a:srgbClr val="64748B"/>
                </a:solidFill>
                <a:latin typeface="Aptos"/>
              </a:rPr>
              <a:t>¿Qué decisión limita el riesgo?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47288" y="1901952"/>
            <a:ext cx="1353312" cy="0"/>
          </a:xfrm>
          <a:prstGeom prst="line">
            <a:avLst/>
          </a:prstGeom>
          <a:ln w="215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029200" y="1691640"/>
            <a:ext cx="420624" cy="420624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755648"/>
            <a:ext cx="42062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221992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Aptos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578608"/>
            <a:ext cx="160020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819" b="0">
                <a:solidFill>
                  <a:srgbClr val="64748B"/>
                </a:solidFill>
                <a:latin typeface="Aptos"/>
              </a:rPr>
              <a:t>¿Qué se implementó?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504688" y="1901952"/>
            <a:ext cx="1353312" cy="0"/>
          </a:xfrm>
          <a:prstGeom prst="line">
            <a:avLst/>
          </a:prstGeom>
          <a:ln w="215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086600" y="169164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1755648"/>
            <a:ext cx="42062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221992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Aptos"/>
              </a:rPr>
              <a:t>QA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78608"/>
            <a:ext cx="160020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819" b="0">
                <a:solidFill>
                  <a:srgbClr val="64748B"/>
                </a:solidFill>
                <a:latin typeface="Aptos"/>
              </a:rPr>
              <a:t>¿Qué se validó?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62088" y="1901952"/>
            <a:ext cx="1353312" cy="0"/>
          </a:xfrm>
          <a:prstGeom prst="line">
            <a:avLst/>
          </a:prstGeom>
          <a:ln w="215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9144000" y="169164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1755648"/>
            <a:ext cx="420624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2221992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Aptos"/>
              </a:rPr>
              <a:t>Release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2578608"/>
            <a:ext cx="160020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819" b="0">
                <a:solidFill>
                  <a:srgbClr val="64748B"/>
                </a:solidFill>
                <a:latin typeface="Aptos"/>
              </a:rPr>
              <a:t>¿Qué salió a producción?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160520"/>
            <a:ext cx="23317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" y="4160520"/>
            <a:ext cx="45720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3271" y="4288536"/>
            <a:ext cx="203911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Cobertura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1" y="4590288"/>
            <a:ext cx="2039112" cy="33832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Tests unitarios + integración + E2E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1880" y="4160520"/>
            <a:ext cx="23317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11880" y="4160520"/>
            <a:ext cx="45720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76472" y="4288536"/>
            <a:ext cx="203911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Complejidad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4590288"/>
            <a:ext cx="2039112" cy="33832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Cambios revisables y mantenibles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4160520"/>
            <a:ext cx="23317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4160520"/>
            <a:ext cx="45720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9672" y="4288536"/>
            <a:ext cx="203911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Seguridad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9672" y="4590288"/>
            <a:ext cx="2039112" cy="33832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CVE, authN/authZ, datos sensibles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98280" y="4160520"/>
            <a:ext cx="23317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98280" y="4160520"/>
            <a:ext cx="45720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62872" y="4288536"/>
            <a:ext cx="203911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Observabilidad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62872" y="4590288"/>
            <a:ext cx="2039112" cy="33832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Logs, métricas, alertas y dashboards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00" b="1">
                <a:solidFill>
                  <a:srgbClr val="2563EB"/>
                </a:solidFill>
                <a:latin typeface="Aptos"/>
              </a:rPr>
              <a:t>EVOLITH SDLC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841248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0A1F44"/>
                </a:solidFill>
                <a:latin typeface="Aptos"/>
              </a:rPr>
              <a:t>Ruta de adopción y valor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05840"/>
            <a:ext cx="89611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Evolith puede adoptarse por fases, sin bloquear la ejecución ni perder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75488"/>
            <a:ext cx="20574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27432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700" b="0">
                <a:solidFill>
                  <a:srgbClr val="64748B"/>
                </a:solidFill>
                <a:latin typeface="Aptos"/>
              </a:rPr>
              <a:t>Evolith Architecture · SDLC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6576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64748B"/>
                </a:solidFill>
                <a:latin typeface="Aptos"/>
              </a:rPr>
              <a:t>7/7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92807"/>
            <a:ext cx="457200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14600"/>
            <a:ext cx="2148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514600"/>
            <a:ext cx="45720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642616"/>
            <a:ext cx="185623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Diagnosticar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944368"/>
            <a:ext cx="1856232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Madurez actual, brechas y sistemas críticos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17320" y="2057400"/>
            <a:ext cx="1737360" cy="0"/>
          </a:xfrm>
          <a:prstGeom prst="line">
            <a:avLst/>
          </a:prstGeom>
          <a:ln w="190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657600" y="18288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892807"/>
            <a:ext cx="457200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514600"/>
            <a:ext cx="2148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2514600"/>
            <a:ext cx="45720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2152" y="2642616"/>
            <a:ext cx="185623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Definir alcance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2944368"/>
            <a:ext cx="1856232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Fases aplicables, gates, artefactos y RACI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60520" y="2057400"/>
            <a:ext cx="1737360" cy="0"/>
          </a:xfrm>
          <a:prstGeom prst="line">
            <a:avLst/>
          </a:prstGeom>
          <a:ln w="190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400800" y="1828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892807"/>
            <a:ext cx="457200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2514600"/>
            <a:ext cx="2148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2514600"/>
            <a:ext cx="45720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2642616"/>
            <a:ext cx="185623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Piloto controlado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2944368"/>
            <a:ext cx="1856232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Aplicar a un sistema real y medir evidencias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03720" y="2057400"/>
            <a:ext cx="1737360" cy="0"/>
          </a:xfrm>
          <a:prstGeom prst="line">
            <a:avLst/>
          </a:prstGeom>
          <a:ln w="190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144000" y="1828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1892807"/>
            <a:ext cx="457200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23960" y="2514600"/>
            <a:ext cx="2148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23960" y="2514600"/>
            <a:ext cx="45720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88552" y="2642616"/>
            <a:ext cx="1856232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80" b="1">
                <a:solidFill>
                  <a:srgbClr val="0A1F44"/>
                </a:solidFill>
                <a:latin typeface="Aptos"/>
              </a:rPr>
              <a:t>Escalar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88552" y="2944368"/>
            <a:ext cx="1856232" cy="6126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ptos"/>
              </a:rPr>
              <a:t>Convertirlo en estándar corporativo reutilizable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617720"/>
            <a:ext cx="2286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Aptos"/>
              </a:rPr>
              <a:t>Valor esperado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029200"/>
            <a:ext cx="182880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5084064"/>
            <a:ext cx="1755648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Menos riesgo tardío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26080" y="5029200"/>
            <a:ext cx="1828800" cy="256032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62656" y="5084064"/>
            <a:ext cx="1755648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Más trazabilidad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74920" y="5029200"/>
            <a:ext cx="182880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11496" y="5084064"/>
            <a:ext cx="1755648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Gates objetivos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5029200"/>
            <a:ext cx="182880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60336" y="5084064"/>
            <a:ext cx="1755648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Readiness operativo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72600" y="5029200"/>
            <a:ext cx="1828800" cy="256032"/>
          </a:xfrm>
          <a:prstGeom prst="round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09176" y="5084064"/>
            <a:ext cx="1755648" cy="1371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Gobernanza escalable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715000"/>
            <a:ext cx="978408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300" b="1">
                <a:solidFill>
                  <a:srgbClr val="0A1F44"/>
                </a:solidFill>
                <a:latin typeface="Aptos"/>
              </a:rPr>
              <a:t>Evolith SDLC convierte el delivery en un sistema gobernable: claro para dirección, ejecutable para equipos y auditable para la organización.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