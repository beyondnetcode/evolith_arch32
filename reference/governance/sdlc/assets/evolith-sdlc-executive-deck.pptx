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FFFFFF"/>
                </a:solidFill>
              </a:defRPr>
            </a:pPr>
            <a:r>
              <a:t>Evolith ARCH32 + SDLC Corporativo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solidFill>
                  <a:srgbClr val="3B82F6"/>
                </a:solidFill>
              </a:defRPr>
            </a:pPr>
            <a:r>
              <a:t>Gobernanza, Estándares y Entrega de Software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3A5F"/>
                </a:solidFill>
              </a:defRPr>
            </a:pPr>
            <a:r>
              <a:t>1. ¿Qué es Evolith?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3840480" cy="0"/>
          </a:xfrm>
        </p:spPr>
        <p:txBody>
          <a:bodyPr/>
          <a:lstStyle/>
          <a:p>
            <a:pPr>
              <a:defRPr sz="1800"/>
            </a:pPr>
            <a:r>
              <a:t>Framework corporativo y arquitectura base.</a:t>
            </a:r>
          </a:p>
          <a:p>
            <a:pPr>
              <a:spcBef>
                <a:spcPts val="800"/>
              </a:spcBef>
              <a:defRPr sz="1800"/>
            </a:pPr>
            <a:r>
              <a:t>Estandariza patrones entre equipos.</a:t>
            </a:r>
          </a:p>
          <a:p>
            <a:pPr>
              <a:spcBef>
                <a:spcPts val="800"/>
              </a:spcBef>
              <a:defRPr sz="1800"/>
            </a:pPr>
            <a:r>
              <a:t>No es una app, es el modelo operativo.</a:t>
            </a:r>
          </a:p>
        </p:txBody>
      </p:sp>
      <p:pic>
        <p:nvPicPr>
          <p:cNvPr id="4" name="Picture 3" descr="ppt1_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3343548"/>
            <a:ext cx="4572000" cy="108530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3A5F"/>
                </a:solidFill>
              </a:defRPr>
            </a:pPr>
            <a:r>
              <a:t>2. El Problema que Resuelve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3840480" cy="0"/>
          </a:xfrm>
        </p:spPr>
        <p:txBody>
          <a:bodyPr/>
          <a:lstStyle/>
          <a:p>
            <a:pPr>
              <a:defRPr sz="1800"/>
            </a:pPr>
            <a:r>
              <a:t>Elimina zonas grises y deuda técnica silenciosa.</a:t>
            </a:r>
          </a:p>
          <a:p>
            <a:pPr>
              <a:spcBef>
                <a:spcPts val="800"/>
              </a:spcBef>
              <a:defRPr sz="1800"/>
            </a:pPr>
            <a:r>
              <a:t>Previene arquitectura fragmentada.</a:t>
            </a:r>
          </a:p>
          <a:p>
            <a:pPr>
              <a:spcBef>
                <a:spcPts val="800"/>
              </a:spcBef>
              <a:defRPr sz="1800"/>
            </a:pPr>
            <a:r>
              <a:t>Reduce el riesgo de delivery.</a:t>
            </a:r>
          </a:p>
        </p:txBody>
      </p:sp>
      <p:pic>
        <p:nvPicPr>
          <p:cNvPr id="4" name="Picture 3" descr="ppt1_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3168214"/>
            <a:ext cx="4572000" cy="143597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3A5F"/>
                </a:solidFill>
              </a:defRPr>
            </a:pPr>
            <a:r>
              <a:t>3. El SDLC de Evolith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3840480" cy="0"/>
          </a:xfrm>
        </p:spPr>
        <p:txBody>
          <a:bodyPr/>
          <a:lstStyle/>
          <a:p>
            <a:pPr>
              <a:defRPr sz="1800"/>
            </a:pPr>
            <a:r>
              <a:t>Evolith provee la estructura; SDLC el ciclo de vida.</a:t>
            </a:r>
          </a:p>
          <a:p>
            <a:pPr>
              <a:spcBef>
                <a:spcPts val="800"/>
              </a:spcBef>
              <a:defRPr sz="1800"/>
            </a:pPr>
            <a:r>
              <a:t>Consta de 5 Fases gobernadas.</a:t>
            </a:r>
          </a:p>
          <a:p>
            <a:pPr>
              <a:spcBef>
                <a:spcPts val="800"/>
              </a:spcBef>
              <a:defRPr sz="1800"/>
            </a:pPr>
            <a:r>
              <a:t>Progreso condicionado a evidencia.</a:t>
            </a:r>
          </a:p>
        </p:txBody>
      </p:sp>
      <p:pic>
        <p:nvPicPr>
          <p:cNvPr id="4" name="Picture 3" descr="ppt1_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3717082"/>
            <a:ext cx="4572000" cy="3382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3A5F"/>
                </a:solidFill>
              </a:defRPr>
            </a:pPr>
            <a:r>
              <a:t>4. Artefactos por Fase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3840480" cy="0"/>
          </a:xfrm>
        </p:spPr>
        <p:txBody>
          <a:bodyPr/>
          <a:lstStyle/>
          <a:p>
            <a:pPr>
              <a:defRPr sz="1800"/>
            </a:pPr>
            <a:r>
              <a:t>Cada fase exige documentación específica.</a:t>
            </a:r>
          </a:p>
          <a:p>
            <a:pPr>
              <a:spcBef>
                <a:spcPts val="800"/>
              </a:spcBef>
              <a:defRPr sz="1800"/>
            </a:pPr>
            <a:r>
              <a:t>Desde el PRD funcional hasta las notas de release.</a:t>
            </a:r>
          </a:p>
          <a:p>
            <a:pPr>
              <a:spcBef>
                <a:spcPts val="800"/>
              </a:spcBef>
              <a:defRPr sz="1800"/>
            </a:pPr>
            <a:r>
              <a:t>Sin artefacto no hay avance.</a:t>
            </a:r>
          </a:p>
        </p:txBody>
      </p:sp>
      <p:pic>
        <p:nvPicPr>
          <p:cNvPr id="4" name="Picture 3" descr="ppt1_slid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418767"/>
            <a:ext cx="4572000" cy="29348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3A5F"/>
                </a:solidFill>
              </a:defRPr>
            </a:pPr>
            <a:r>
              <a:t>5. Roles y Gobernanza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3840480" cy="0"/>
          </a:xfrm>
        </p:spPr>
        <p:txBody>
          <a:bodyPr/>
          <a:lstStyle/>
          <a:p>
            <a:pPr>
              <a:defRPr sz="1800"/>
            </a:pPr>
            <a:r>
              <a:t>Responsabilidades claras (RACI).</a:t>
            </a:r>
          </a:p>
          <a:p>
            <a:pPr>
              <a:spcBef>
                <a:spcPts val="800"/>
              </a:spcBef>
              <a:defRPr sz="1800"/>
            </a:pPr>
            <a:r>
              <a:t>Product Owner define QUÉ.</a:t>
            </a:r>
          </a:p>
          <a:p>
            <a:pPr>
              <a:spcBef>
                <a:spcPts val="800"/>
              </a:spcBef>
              <a:defRPr sz="1800"/>
            </a:pPr>
            <a:r>
              <a:t>Arquitecto/Tech Lead define CÓMO.</a:t>
            </a:r>
          </a:p>
        </p:txBody>
      </p:sp>
      <p:pic>
        <p:nvPicPr>
          <p:cNvPr id="4" name="Picture 3" descr="ppt1_slid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3077935"/>
            <a:ext cx="4572000" cy="161652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3A5F"/>
                </a:solidFill>
              </a:defRPr>
            </a:pPr>
            <a:r>
              <a:t>6. Quality Gates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3840480" cy="0"/>
          </a:xfrm>
        </p:spPr>
        <p:txBody>
          <a:bodyPr/>
          <a:lstStyle/>
          <a:p>
            <a:pPr>
              <a:defRPr sz="1800"/>
            </a:pPr>
            <a:r>
              <a:t>Verificaciones automatizadas y objetivas.</a:t>
            </a:r>
          </a:p>
          <a:p>
            <a:pPr>
              <a:spcBef>
                <a:spcPts val="800"/>
              </a:spcBef>
              <a:defRPr sz="1800"/>
            </a:pPr>
            <a:r>
              <a:t>Se detiene el despliegue si falla cobertura o seguridad.</a:t>
            </a:r>
          </a:p>
          <a:p>
            <a:pPr>
              <a:spcBef>
                <a:spcPts val="800"/>
              </a:spcBef>
              <a:defRPr sz="1800"/>
            </a:pPr>
            <a:r>
              <a:t>Asegura mantenibilidad a largo plazo.</a:t>
            </a:r>
          </a:p>
        </p:txBody>
      </p:sp>
      <p:pic>
        <p:nvPicPr>
          <p:cNvPr id="4" name="Picture 3" descr="ppt1_slid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996944"/>
            <a:ext cx="4572000" cy="37785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3A5F"/>
                </a:solidFill>
              </a:defRPr>
            </a:pPr>
            <a:r>
              <a:t>7. Valor Aportado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3840480" cy="0"/>
          </a:xfrm>
        </p:spPr>
        <p:txBody>
          <a:bodyPr/>
          <a:lstStyle/>
          <a:p>
            <a:pPr>
              <a:defRPr sz="1800"/>
            </a:pPr>
            <a:r>
              <a:t>Menor fricción entre Dev y Ops.</a:t>
            </a:r>
          </a:p>
          <a:p>
            <a:pPr>
              <a:spcBef>
                <a:spcPts val="800"/>
              </a:spcBef>
              <a:defRPr sz="1800"/>
            </a:pPr>
            <a:r>
              <a:t>Predicibilidad de negocio.</a:t>
            </a:r>
          </a:p>
          <a:p>
            <a:pPr>
              <a:spcBef>
                <a:spcPts val="800"/>
              </a:spcBef>
              <a:defRPr sz="1800"/>
            </a:pPr>
            <a:r>
              <a:t>Sostenibilidad de la plataforma.</a:t>
            </a:r>
          </a:p>
        </p:txBody>
      </p:sp>
      <p:pic>
        <p:nvPicPr>
          <p:cNvPr id="4" name="Picture 3" descr="ppt1_slid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554889"/>
            <a:ext cx="4572000" cy="266262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